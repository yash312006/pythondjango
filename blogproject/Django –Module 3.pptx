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39"/>
  </p:notesMasterIdLst>
  <p:handoutMasterIdLst>
    <p:handoutMasterId r:id="rId40"/>
  </p:handoutMasterIdLst>
  <p:sldIdLst>
    <p:sldId id="256" r:id="rId5"/>
    <p:sldId id="276" r:id="rId6"/>
    <p:sldId id="277" r:id="rId7"/>
    <p:sldId id="278" r:id="rId8"/>
    <p:sldId id="282" r:id="rId9"/>
    <p:sldId id="281" r:id="rId10"/>
    <p:sldId id="280" r:id="rId11"/>
    <p:sldId id="279" r:id="rId12"/>
    <p:sldId id="284" r:id="rId13"/>
    <p:sldId id="283" r:id="rId14"/>
    <p:sldId id="285" r:id="rId15"/>
    <p:sldId id="287" r:id="rId16"/>
    <p:sldId id="286" r:id="rId17"/>
    <p:sldId id="290" r:id="rId18"/>
    <p:sldId id="289" r:id="rId19"/>
    <p:sldId id="292" r:id="rId20"/>
    <p:sldId id="288" r:id="rId21"/>
    <p:sldId id="291" r:id="rId22"/>
    <p:sldId id="259" r:id="rId23"/>
    <p:sldId id="261" r:id="rId24"/>
    <p:sldId id="262" r:id="rId25"/>
    <p:sldId id="263" r:id="rId26"/>
    <p:sldId id="266" r:id="rId27"/>
    <p:sldId id="265" r:id="rId28"/>
    <p:sldId id="264" r:id="rId29"/>
    <p:sldId id="267" r:id="rId30"/>
    <p:sldId id="269" r:id="rId31"/>
    <p:sldId id="268" r:id="rId32"/>
    <p:sldId id="274" r:id="rId33"/>
    <p:sldId id="273" r:id="rId34"/>
    <p:sldId id="275" r:id="rId35"/>
    <p:sldId id="271" r:id="rId36"/>
    <p:sldId id="272" r:id="rId37"/>
    <p:sldId id="26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876B83-7033-4064-A30F-FF7CC198EDB8}" v="35" dt="2025-12-26T03:16:52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48" d="100"/>
          <a:sy n="48" d="100"/>
        </p:scale>
        <p:origin x="101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Django –Module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Gunjan </a:t>
            </a:r>
            <a:r>
              <a:rPr lang="en-US" dirty="0" err="1">
                <a:solidFill>
                  <a:srgbClr val="7CEBFF"/>
                </a:solidFill>
              </a:rPr>
              <a:t>mishra</a:t>
            </a:r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16C3B-0B6D-4291-FAC7-3A2F577D6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Authentication System –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E8896-4DFD-DAC2-3135-5780E00A2007}"/>
              </a:ext>
            </a:extLst>
          </p:cNvPr>
          <p:cNvSpPr txBox="1"/>
          <p:nvPr/>
        </p:nvSpPr>
        <p:spPr>
          <a:xfrm>
            <a:off x="581192" y="2560380"/>
            <a:ext cx="6096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What is User Authentication?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Authentication is the process of </a:t>
            </a:r>
            <a:r>
              <a:rPr lang="en-US" sz="2000" b="1" dirty="0"/>
              <a:t>verifying a user’s identity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It ensures </a:t>
            </a:r>
            <a:r>
              <a:rPr lang="en-US" sz="2000" b="1" dirty="0"/>
              <a:t>only authorized users</a:t>
            </a:r>
            <a:r>
              <a:rPr lang="en-US" sz="2000" dirty="0"/>
              <a:t> can access certain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Common authentication actions: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Register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Login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Logout</a:t>
            </a:r>
            <a:endParaRPr lang="en-US" sz="2000" dirty="0"/>
          </a:p>
          <a:p>
            <a:pPr>
              <a:buNone/>
            </a:pPr>
            <a:r>
              <a:rPr lang="en-US" sz="2000" b="1" dirty="0"/>
              <a:t>Why Authentication is Needed?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Protects application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Allows </a:t>
            </a:r>
            <a:r>
              <a:rPr lang="en-US" sz="2000" b="1" dirty="0"/>
              <a:t>user-specific access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Prevents unauthorized actions (create/edit/delete)</a:t>
            </a:r>
          </a:p>
        </p:txBody>
      </p:sp>
    </p:spTree>
    <p:extLst>
      <p:ext uri="{BB962C8B-B14F-4D97-AF65-F5344CB8AC3E}">
        <p14:creationId xmlns:p14="http://schemas.microsoft.com/office/powerpoint/2010/main" val="2958266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CB874-81EE-FC23-E9CC-92F97FD3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Django User Authentication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028BB-DEBA-A1E5-4966-127B18CCD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7541"/>
            <a:ext cx="11029615" cy="3678303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Django Built-in Authentication</a:t>
            </a:r>
          </a:p>
          <a:p>
            <a:r>
              <a:rPr lang="en-IN" dirty="0"/>
              <a:t>Django provides:</a:t>
            </a:r>
          </a:p>
          <a:p>
            <a:r>
              <a:rPr lang="en-IN" dirty="0"/>
              <a:t>User model (</a:t>
            </a:r>
            <a:r>
              <a:rPr lang="en-IN" dirty="0" err="1"/>
              <a:t>django.contrib.auth.models.User</a:t>
            </a:r>
            <a:r>
              <a:rPr lang="en-IN" dirty="0"/>
              <a:t>)</a:t>
            </a:r>
          </a:p>
          <a:p>
            <a:r>
              <a:rPr lang="en-IN" dirty="0"/>
              <a:t>Login system</a:t>
            </a:r>
          </a:p>
          <a:p>
            <a:r>
              <a:rPr lang="en-IN" dirty="0"/>
              <a:t>Logout system</a:t>
            </a:r>
          </a:p>
          <a:p>
            <a:r>
              <a:rPr lang="en-IN" dirty="0"/>
              <a:t>Password hashing</a:t>
            </a:r>
          </a:p>
          <a:p>
            <a:r>
              <a:rPr lang="en-IN" dirty="0"/>
              <a:t>Session management</a:t>
            </a:r>
          </a:p>
          <a:p>
            <a:r>
              <a:rPr lang="en-IN" b="1" dirty="0"/>
              <a:t>Advantages</a:t>
            </a:r>
          </a:p>
          <a:p>
            <a:r>
              <a:rPr lang="en-IN" dirty="0"/>
              <a:t>Secure by default</a:t>
            </a:r>
          </a:p>
          <a:p>
            <a:r>
              <a:rPr lang="en-IN" dirty="0"/>
              <a:t>No need to write authentication logic from scratch</a:t>
            </a:r>
          </a:p>
          <a:p>
            <a:r>
              <a:rPr lang="en-IN" dirty="0"/>
              <a:t>Easy integration with projects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58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F9FA-E7B9-44D5-B34C-0AE64898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000A4-13C4-B4F7-523D-64FD10BB8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607216"/>
            <a:ext cx="11029615" cy="3678303"/>
          </a:xfrm>
        </p:spPr>
        <p:txBody>
          <a:bodyPr>
            <a:normAutofit fontScale="25000" lnSpcReduction="20000"/>
          </a:bodyPr>
          <a:lstStyle/>
          <a:p>
            <a:r>
              <a:rPr lang="en-IN" sz="6400" b="1" dirty="0"/>
              <a:t>What is User Registration?</a:t>
            </a:r>
          </a:p>
          <a:p>
            <a:r>
              <a:rPr lang="en-IN" sz="6400" dirty="0"/>
              <a:t>Process of </a:t>
            </a:r>
            <a:r>
              <a:rPr lang="en-IN" sz="6400" b="1" dirty="0"/>
              <a:t>creating a new user account</a:t>
            </a:r>
            <a:endParaRPr lang="en-IN" sz="6400" dirty="0"/>
          </a:p>
          <a:p>
            <a:r>
              <a:rPr lang="en-IN" sz="6400" dirty="0"/>
              <a:t>Stores:</a:t>
            </a:r>
          </a:p>
          <a:p>
            <a:pPr lvl="1"/>
            <a:r>
              <a:rPr lang="en-IN" sz="6400" dirty="0"/>
              <a:t>Username</a:t>
            </a:r>
          </a:p>
          <a:p>
            <a:pPr lvl="1"/>
            <a:r>
              <a:rPr lang="en-IN" sz="6400" dirty="0"/>
              <a:t>Email</a:t>
            </a:r>
          </a:p>
          <a:p>
            <a:pPr lvl="1"/>
            <a:r>
              <a:rPr lang="en-IN" sz="6400" dirty="0"/>
              <a:t>Password (encrypted)</a:t>
            </a:r>
          </a:p>
          <a:p>
            <a:r>
              <a:rPr lang="en-IN" sz="6400" b="1" dirty="0"/>
              <a:t>Django Support</a:t>
            </a:r>
          </a:p>
          <a:p>
            <a:r>
              <a:rPr lang="en-IN" sz="6400" dirty="0"/>
              <a:t>Uses </a:t>
            </a:r>
            <a:r>
              <a:rPr lang="en-IN" sz="6400" dirty="0" err="1"/>
              <a:t>UserCreationForm</a:t>
            </a:r>
            <a:endParaRPr lang="en-IN" sz="6400" dirty="0"/>
          </a:p>
          <a:p>
            <a:r>
              <a:rPr lang="en-IN" sz="6400" dirty="0"/>
              <a:t>Automatically handles:</a:t>
            </a:r>
          </a:p>
          <a:p>
            <a:pPr lvl="1"/>
            <a:r>
              <a:rPr lang="en-IN" sz="6400" dirty="0"/>
              <a:t>Password validation</a:t>
            </a:r>
          </a:p>
          <a:p>
            <a:pPr lvl="1"/>
            <a:r>
              <a:rPr lang="en-IN" sz="6400" dirty="0"/>
              <a:t>Password confirmation</a:t>
            </a:r>
          </a:p>
          <a:p>
            <a:r>
              <a:rPr lang="en-IN" sz="6400" b="1" dirty="0"/>
              <a:t>Blog Project Example</a:t>
            </a:r>
          </a:p>
          <a:p>
            <a:r>
              <a:rPr lang="en-IN" sz="6400" dirty="0"/>
              <a:t>New users can </a:t>
            </a:r>
            <a:r>
              <a:rPr lang="en-IN" sz="6400" b="1" dirty="0"/>
              <a:t>register</a:t>
            </a:r>
            <a:endParaRPr lang="en-IN" sz="6400" dirty="0"/>
          </a:p>
          <a:p>
            <a:r>
              <a:rPr lang="en-IN" sz="6400" dirty="0"/>
              <a:t>After registration, user can:</a:t>
            </a:r>
          </a:p>
          <a:p>
            <a:pPr lvl="1"/>
            <a:r>
              <a:rPr lang="en-IN" sz="6400" dirty="0"/>
              <a:t>Login</a:t>
            </a:r>
          </a:p>
          <a:p>
            <a:pPr lvl="1"/>
            <a:r>
              <a:rPr lang="en-IN" sz="6400" dirty="0"/>
              <a:t>Create blog posts (future enhancement)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92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DED97-CBF8-C940-7B10-D1BD44BC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Login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91BA1-6B8A-C665-8C9B-5D9ADE50D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721381"/>
            <a:ext cx="11029615" cy="3678303"/>
          </a:xfrm>
        </p:spPr>
        <p:txBody>
          <a:bodyPr>
            <a:noAutofit/>
          </a:bodyPr>
          <a:lstStyle/>
          <a:p>
            <a:r>
              <a:rPr lang="en-IN" b="1" dirty="0"/>
              <a:t>What is Login?</a:t>
            </a:r>
          </a:p>
          <a:p>
            <a:r>
              <a:rPr lang="en-IN" dirty="0"/>
              <a:t>Process where user enters:</a:t>
            </a:r>
          </a:p>
          <a:p>
            <a:pPr lvl="1"/>
            <a:r>
              <a:rPr lang="en-IN" sz="1800" dirty="0"/>
              <a:t>Username</a:t>
            </a:r>
          </a:p>
          <a:p>
            <a:pPr lvl="1"/>
            <a:r>
              <a:rPr lang="en-IN" sz="1800" dirty="0"/>
              <a:t>Password</a:t>
            </a:r>
          </a:p>
          <a:p>
            <a:r>
              <a:rPr lang="en-IN" dirty="0"/>
              <a:t>System verifies credentials</a:t>
            </a:r>
          </a:p>
          <a:p>
            <a:r>
              <a:rPr lang="en-IN" b="1" dirty="0"/>
              <a:t>Django Login Features</a:t>
            </a:r>
          </a:p>
          <a:p>
            <a:r>
              <a:rPr lang="en-IN" dirty="0"/>
              <a:t>Uses authenticate() and login()</a:t>
            </a:r>
          </a:p>
          <a:p>
            <a:r>
              <a:rPr lang="en-IN" dirty="0"/>
              <a:t>Maintains session until logout</a:t>
            </a:r>
          </a:p>
          <a:p>
            <a:r>
              <a:rPr lang="en-IN" b="1" dirty="0"/>
              <a:t>Blog Project Example</a:t>
            </a:r>
          </a:p>
          <a:p>
            <a:r>
              <a:rPr lang="en-IN" dirty="0"/>
              <a:t>Only logged-in users can:</a:t>
            </a:r>
          </a:p>
          <a:p>
            <a:pPr lvl="1"/>
            <a:r>
              <a:rPr lang="en-IN" sz="1800" dirty="0"/>
              <a:t>Create posts</a:t>
            </a:r>
          </a:p>
          <a:p>
            <a:pPr lvl="1"/>
            <a:r>
              <a:rPr lang="en-IN" sz="1800" dirty="0"/>
              <a:t>Edit posts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842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AD00-2F81-D3DA-D26D-C94D1C971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Logout System (Theory)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51479-0CD1-9B24-8276-D067ED17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271936"/>
            <a:ext cx="11029615" cy="367830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What is Logout?</a:t>
            </a:r>
          </a:p>
          <a:p>
            <a:r>
              <a:rPr lang="en-US" dirty="0"/>
              <a:t>Ends user session</a:t>
            </a:r>
          </a:p>
          <a:p>
            <a:r>
              <a:rPr lang="en-US" dirty="0"/>
              <a:t>Clears authentication data</a:t>
            </a:r>
          </a:p>
          <a:p>
            <a:r>
              <a:rPr lang="en-US" b="1" dirty="0"/>
              <a:t>Django Logout</a:t>
            </a:r>
          </a:p>
          <a:p>
            <a:r>
              <a:rPr lang="en-US" dirty="0"/>
              <a:t>Uses logout() function</a:t>
            </a:r>
          </a:p>
          <a:p>
            <a:r>
              <a:rPr lang="en-US" dirty="0"/>
              <a:t>Redirects user to public page</a:t>
            </a:r>
          </a:p>
          <a:p>
            <a:r>
              <a:rPr lang="en-US" b="1" dirty="0"/>
              <a:t>Blog Project Example</a:t>
            </a:r>
          </a:p>
          <a:p>
            <a:r>
              <a:rPr lang="en-US" dirty="0"/>
              <a:t>User logs out after writing posts</a:t>
            </a:r>
          </a:p>
          <a:p>
            <a:r>
              <a:rPr lang="en-US" dirty="0"/>
              <a:t>Prevents unauthorized access from same browser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182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BBD4-2680-4467-47F8-F353A5ACC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Django Admin Interface –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09DB-4232-A032-1E72-C001D9690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 is Django Admin?</a:t>
            </a:r>
          </a:p>
          <a:p>
            <a:r>
              <a:rPr lang="en-US" dirty="0"/>
              <a:t>Auto-generated backend interface</a:t>
            </a:r>
          </a:p>
          <a:p>
            <a:r>
              <a:rPr lang="en-US" dirty="0"/>
              <a:t>Used to manage:</a:t>
            </a:r>
          </a:p>
          <a:p>
            <a:pPr lvl="1"/>
            <a:r>
              <a:rPr lang="en-US" dirty="0"/>
              <a:t>Users</a:t>
            </a:r>
          </a:p>
          <a:p>
            <a:pPr lvl="1"/>
            <a:r>
              <a:rPr lang="en-US" dirty="0"/>
              <a:t>Models</a:t>
            </a:r>
          </a:p>
          <a:p>
            <a:pPr lvl="1"/>
            <a:r>
              <a:rPr lang="en-US" dirty="0"/>
              <a:t>Database records</a:t>
            </a:r>
          </a:p>
          <a:p>
            <a:r>
              <a:rPr lang="en-US" b="1" dirty="0"/>
              <a:t>Key Features</a:t>
            </a:r>
          </a:p>
          <a:p>
            <a:r>
              <a:rPr lang="en-US" dirty="0"/>
              <a:t>Create, update, delete records</a:t>
            </a:r>
          </a:p>
          <a:p>
            <a:r>
              <a:rPr lang="en-US" dirty="0"/>
              <a:t>Secure login access</a:t>
            </a:r>
          </a:p>
          <a:p>
            <a:r>
              <a:rPr lang="en-US" dirty="0"/>
              <a:t>Role-based permissions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1673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0101B-F1AC-8C46-98DE-4E0758AF3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Django Admin is Important?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52A0A-A7CF-6530-1214-1CEACC82B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Benefits</a:t>
            </a:r>
          </a:p>
          <a:p>
            <a:r>
              <a:rPr lang="en-US" dirty="0"/>
              <a:t>No need to build custom backend</a:t>
            </a:r>
          </a:p>
          <a:p>
            <a:r>
              <a:rPr lang="en-US" dirty="0"/>
              <a:t>Fast data management</a:t>
            </a:r>
          </a:p>
          <a:p>
            <a:r>
              <a:rPr lang="en-US" dirty="0"/>
              <a:t>Useful for:</a:t>
            </a:r>
          </a:p>
          <a:p>
            <a:pPr lvl="1"/>
            <a:r>
              <a:rPr lang="en-US" dirty="0"/>
              <a:t>Admins</a:t>
            </a:r>
          </a:p>
          <a:p>
            <a:pPr lvl="1"/>
            <a:r>
              <a:rPr lang="en-US" dirty="0"/>
              <a:t>Teachers</a:t>
            </a:r>
          </a:p>
          <a:p>
            <a:pPr lvl="1"/>
            <a:r>
              <a:rPr lang="en-US" dirty="0"/>
              <a:t>Developers</a:t>
            </a:r>
          </a:p>
          <a:p>
            <a:r>
              <a:rPr lang="en-US" b="1" dirty="0"/>
              <a:t>Exam Point</a:t>
            </a:r>
          </a:p>
          <a:p>
            <a:r>
              <a:rPr lang="en-US" dirty="0"/>
              <a:t>Django Admin is one of the most powerful built-in features of Django.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8987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B8D27-BBC2-6715-E835-76B31EC9B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Django Admin in Blog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598F0-47F9-4D0E-FB7A-EB8293A70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828061"/>
            <a:ext cx="11029615" cy="3678303"/>
          </a:xfrm>
        </p:spPr>
        <p:txBody>
          <a:bodyPr>
            <a:noAutofit/>
          </a:bodyPr>
          <a:lstStyle/>
          <a:p>
            <a:r>
              <a:rPr lang="en-US" b="1" dirty="0"/>
              <a:t>How Admin is Used</a:t>
            </a:r>
          </a:p>
          <a:p>
            <a:r>
              <a:rPr lang="en-US" dirty="0"/>
              <a:t>Admin logs in using superuser account</a:t>
            </a:r>
          </a:p>
          <a:p>
            <a:r>
              <a:rPr lang="en-US" dirty="0"/>
              <a:t>Manages:</a:t>
            </a:r>
          </a:p>
          <a:p>
            <a:pPr lvl="1"/>
            <a:r>
              <a:rPr lang="en-US" sz="1800" dirty="0"/>
              <a:t>Categories</a:t>
            </a:r>
          </a:p>
          <a:p>
            <a:pPr lvl="1"/>
            <a:r>
              <a:rPr lang="en-US" sz="1800" dirty="0"/>
              <a:t>Posts</a:t>
            </a:r>
          </a:p>
          <a:p>
            <a:pPr lvl="1"/>
            <a:r>
              <a:rPr lang="en-US" sz="1800" dirty="0"/>
              <a:t>Users</a:t>
            </a:r>
          </a:p>
          <a:p>
            <a:r>
              <a:rPr lang="en-US" b="1" dirty="0"/>
              <a:t>Practical Use Case</a:t>
            </a:r>
          </a:p>
          <a:p>
            <a:r>
              <a:rPr lang="en-US" dirty="0"/>
              <a:t>Create categories like:</a:t>
            </a:r>
          </a:p>
          <a:p>
            <a:pPr lvl="1"/>
            <a:r>
              <a:rPr lang="en-US" sz="1800" dirty="0"/>
              <a:t>Technology</a:t>
            </a:r>
          </a:p>
          <a:p>
            <a:pPr lvl="1"/>
            <a:r>
              <a:rPr lang="en-US" sz="1800" dirty="0"/>
              <a:t>Education</a:t>
            </a:r>
          </a:p>
          <a:p>
            <a:pPr lvl="1"/>
            <a:r>
              <a:rPr lang="en-US" sz="1800" dirty="0"/>
              <a:t>Health</a:t>
            </a:r>
          </a:p>
          <a:p>
            <a:r>
              <a:rPr lang="en-US" dirty="0"/>
              <a:t>Approve or modify blog posts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75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17176-0047-C890-9BF6-8012C4905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Django Forms –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3002-6564-679D-022B-058BD3C7F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are Django Forms?</a:t>
            </a:r>
          </a:p>
          <a:p>
            <a:r>
              <a:rPr lang="en-US" dirty="0"/>
              <a:t>Forms handle:</a:t>
            </a:r>
          </a:p>
          <a:p>
            <a:pPr lvl="1"/>
            <a:r>
              <a:rPr lang="en-US" dirty="0"/>
              <a:t>User input</a:t>
            </a:r>
          </a:p>
          <a:p>
            <a:pPr lvl="1"/>
            <a:r>
              <a:rPr lang="en-US" dirty="0"/>
              <a:t>Data validation</a:t>
            </a:r>
          </a:p>
          <a:p>
            <a:pPr lvl="1"/>
            <a:r>
              <a:rPr lang="en-US" dirty="0"/>
              <a:t>Data saving</a:t>
            </a:r>
          </a:p>
          <a:p>
            <a:r>
              <a:rPr lang="en-US" b="1" dirty="0"/>
              <a:t>Types of Forms in Django</a:t>
            </a:r>
          </a:p>
          <a:p>
            <a:r>
              <a:rPr lang="en-US" b="1" dirty="0"/>
              <a:t>Form Class</a:t>
            </a:r>
            <a:endParaRPr lang="en-US" dirty="0"/>
          </a:p>
          <a:p>
            <a:r>
              <a:rPr lang="en-US" b="1" dirty="0" err="1"/>
              <a:t>ModelForm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842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5DA52-3834-BC8C-6A88-F7516E0F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999201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Django Forms – Introduction</a:t>
            </a:r>
            <a:br>
              <a:rPr lang="en-US" b="1" dirty="0"/>
            </a:br>
            <a:r>
              <a:rPr lang="en-US" b="1" dirty="0"/>
              <a:t>What are Django Forms?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E4257-09C6-0B09-CA6D-84CDD25A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are Django Forms?</a:t>
            </a:r>
          </a:p>
          <a:p>
            <a:r>
              <a:rPr lang="en-US" dirty="0"/>
              <a:t>Forms handle:</a:t>
            </a:r>
          </a:p>
          <a:p>
            <a:pPr lvl="1"/>
            <a:r>
              <a:rPr lang="en-US" dirty="0"/>
              <a:t>User input</a:t>
            </a:r>
          </a:p>
          <a:p>
            <a:pPr lvl="1"/>
            <a:r>
              <a:rPr lang="en-US" dirty="0"/>
              <a:t>Data validation</a:t>
            </a:r>
          </a:p>
          <a:p>
            <a:pPr lvl="1"/>
            <a:r>
              <a:rPr lang="en-US" dirty="0"/>
              <a:t>Data saving</a:t>
            </a:r>
          </a:p>
          <a:p>
            <a:r>
              <a:rPr lang="en-US" b="1" dirty="0"/>
              <a:t>Types of Forms in Django</a:t>
            </a:r>
          </a:p>
          <a:p>
            <a:r>
              <a:rPr lang="en-US" b="1" dirty="0"/>
              <a:t>Form Class</a:t>
            </a:r>
            <a:endParaRPr lang="en-US" dirty="0"/>
          </a:p>
          <a:p>
            <a:r>
              <a:rPr lang="en-US" b="1" dirty="0" err="1"/>
              <a:t>ModelForm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1362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EBCC1-CF7A-A03E-34AC-C19E01534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Django Form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081C3-B4B3-8AD8-E373-51A466B12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 is Form Class?</a:t>
            </a:r>
          </a:p>
          <a:p>
            <a:r>
              <a:rPr lang="en-US" dirty="0"/>
              <a:t>Manually define form fields</a:t>
            </a:r>
          </a:p>
          <a:p>
            <a:r>
              <a:rPr lang="en-US" dirty="0"/>
              <a:t>Used when data is </a:t>
            </a:r>
            <a:r>
              <a:rPr lang="en-US" b="1" dirty="0"/>
              <a:t>not directly linked</a:t>
            </a:r>
            <a:r>
              <a:rPr lang="en-US" dirty="0"/>
              <a:t> to a model</a:t>
            </a:r>
          </a:p>
          <a:p>
            <a:r>
              <a:rPr lang="en-US" b="1" dirty="0"/>
              <a:t>Characteristics</a:t>
            </a:r>
          </a:p>
          <a:p>
            <a:r>
              <a:rPr lang="en-US" dirty="0"/>
              <a:t>More control</a:t>
            </a:r>
          </a:p>
          <a:p>
            <a:r>
              <a:rPr lang="en-US" dirty="0"/>
              <a:t>Requires manual saving logic</a:t>
            </a:r>
          </a:p>
          <a:p>
            <a:r>
              <a:rPr lang="en-US" b="1" dirty="0"/>
              <a:t>Example Use Case</a:t>
            </a:r>
          </a:p>
          <a:p>
            <a:r>
              <a:rPr lang="en-US" dirty="0"/>
              <a:t>Login form</a:t>
            </a:r>
          </a:p>
          <a:p>
            <a:r>
              <a:rPr lang="en-US" dirty="0"/>
              <a:t>Contact form</a:t>
            </a:r>
          </a:p>
          <a:p>
            <a:r>
              <a:rPr lang="en-US" dirty="0"/>
              <a:t>Search form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0269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D28B-5C27-27B6-C710-C0BE5DC04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Django </a:t>
            </a:r>
            <a:r>
              <a:rPr lang="en-IN" dirty="0" err="1"/>
              <a:t>ModelForm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2773A-B53C-54B7-94FA-CFA00ED38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</a:t>
            </a:r>
            <a:r>
              <a:rPr lang="en-US" b="1" dirty="0" err="1"/>
              <a:t>ModelForm</a:t>
            </a:r>
            <a:r>
              <a:rPr lang="en-US" b="1" dirty="0"/>
              <a:t>?</a:t>
            </a:r>
          </a:p>
          <a:p>
            <a:r>
              <a:rPr lang="en-US" dirty="0"/>
              <a:t>Automatically creates form from a model</a:t>
            </a:r>
          </a:p>
          <a:p>
            <a:r>
              <a:rPr lang="en-US" dirty="0"/>
              <a:t>Reduces code</a:t>
            </a:r>
          </a:p>
          <a:p>
            <a:r>
              <a:rPr lang="en-US" dirty="0"/>
              <a:t>Directly connects form to database</a:t>
            </a:r>
          </a:p>
          <a:p>
            <a:r>
              <a:rPr lang="en-US" b="1" dirty="0"/>
              <a:t>Advantages</a:t>
            </a:r>
          </a:p>
          <a:p>
            <a:r>
              <a:rPr lang="en-US" dirty="0"/>
              <a:t>Faster development</a:t>
            </a:r>
          </a:p>
          <a:p>
            <a:r>
              <a:rPr lang="en-US" dirty="0"/>
              <a:t>Less error-prone</a:t>
            </a:r>
          </a:p>
          <a:p>
            <a:r>
              <a:rPr lang="en-US" dirty="0"/>
              <a:t>Clean and readable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632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A5FE2-101B-B90D-9AC4-0772ED1E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ModelForm</a:t>
            </a:r>
            <a:r>
              <a:rPr lang="en-IN" dirty="0"/>
              <a:t> in Blog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100D3-1705-A074-2BC0-650FDE405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Blog Project Usage</a:t>
            </a:r>
          </a:p>
          <a:p>
            <a:r>
              <a:rPr lang="en-US" dirty="0"/>
              <a:t>Post creation form</a:t>
            </a:r>
          </a:p>
          <a:p>
            <a:r>
              <a:rPr lang="en-US" dirty="0"/>
              <a:t>Post edit form</a:t>
            </a:r>
          </a:p>
          <a:p>
            <a:r>
              <a:rPr lang="en-US" b="1" dirty="0"/>
              <a:t>Fields Generated Automatically</a:t>
            </a:r>
          </a:p>
          <a:p>
            <a:r>
              <a:rPr lang="en-US" dirty="0"/>
              <a:t>Title</a:t>
            </a:r>
          </a:p>
          <a:p>
            <a:r>
              <a:rPr lang="en-US" dirty="0"/>
              <a:t>Content</a:t>
            </a:r>
          </a:p>
          <a:p>
            <a:r>
              <a:rPr lang="en-US" dirty="0"/>
              <a:t>Category</a:t>
            </a:r>
          </a:p>
          <a:p>
            <a:r>
              <a:rPr lang="en-US" b="1" dirty="0"/>
              <a:t>Benefit</a:t>
            </a:r>
          </a:p>
          <a:p>
            <a:r>
              <a:rPr lang="en-US" dirty="0"/>
              <a:t>When model changes, form updates automatically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229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78568-AC62-3A28-919A-1F9A0BDC6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 Validation in Django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6A1D2-EDB0-8805-9C11-21FA399D2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Form Validation in Django</a:t>
            </a:r>
          </a:p>
          <a:p>
            <a:r>
              <a:rPr lang="en-IN" b="1" dirty="0"/>
              <a:t>What is Validation?</a:t>
            </a:r>
          </a:p>
          <a:p>
            <a:r>
              <a:rPr lang="en-IN" dirty="0"/>
              <a:t>Ensures correct and safe data entry</a:t>
            </a:r>
          </a:p>
          <a:p>
            <a:r>
              <a:rPr lang="en-IN" b="1" dirty="0"/>
              <a:t>Django Provides</a:t>
            </a:r>
          </a:p>
          <a:p>
            <a:r>
              <a:rPr lang="en-IN" dirty="0"/>
              <a:t>Required field checking</a:t>
            </a:r>
          </a:p>
          <a:p>
            <a:r>
              <a:rPr lang="en-IN" dirty="0"/>
              <a:t>Field type validation</a:t>
            </a:r>
          </a:p>
          <a:p>
            <a:r>
              <a:rPr lang="en-IN" dirty="0"/>
              <a:t>Custom validation methods</a:t>
            </a:r>
          </a:p>
          <a:p>
            <a:r>
              <a:rPr lang="en-IN" b="1" dirty="0"/>
              <a:t>Blog Project Example</a:t>
            </a:r>
          </a:p>
          <a:p>
            <a:r>
              <a:rPr lang="en-IN" dirty="0"/>
              <a:t>Empty title → Error</a:t>
            </a:r>
          </a:p>
          <a:p>
            <a:r>
              <a:rPr lang="en-IN" dirty="0"/>
              <a:t>Invalid category → Error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7396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04E0-485C-C232-9CBE-D6C45ACE5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CSRF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13358-0E85-9372-77BF-637BC1776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is CSRF?</a:t>
            </a:r>
          </a:p>
          <a:p>
            <a:r>
              <a:rPr lang="en-IN" dirty="0"/>
              <a:t>Cross-Site Request Forgery</a:t>
            </a:r>
          </a:p>
          <a:p>
            <a:r>
              <a:rPr lang="en-IN" dirty="0"/>
              <a:t>Security attack using fake requests</a:t>
            </a:r>
          </a:p>
          <a:p>
            <a:r>
              <a:rPr lang="en-IN" b="1" dirty="0"/>
              <a:t>Django Protection</a:t>
            </a:r>
          </a:p>
          <a:p>
            <a:r>
              <a:rPr lang="en-IN" dirty="0"/>
              <a:t>Uses {% </a:t>
            </a:r>
            <a:r>
              <a:rPr lang="en-IN" dirty="0" err="1"/>
              <a:t>csrf_token</a:t>
            </a:r>
            <a:r>
              <a:rPr lang="en-IN" dirty="0"/>
              <a:t> %}</a:t>
            </a:r>
          </a:p>
          <a:p>
            <a:r>
              <a:rPr lang="en-IN" dirty="0"/>
              <a:t>Prevents unauthorized form submissions</a:t>
            </a:r>
          </a:p>
          <a:p>
            <a:r>
              <a:rPr lang="en-IN" b="1" dirty="0"/>
              <a:t>Exam Note</a:t>
            </a:r>
          </a:p>
          <a:p>
            <a:r>
              <a:rPr lang="en-IN" dirty="0"/>
              <a:t>CSRF token is mandatory in Django POST forms.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8163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4902-FD79-FC60-CD27-BB1D94DA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+ Forms + Admin (Project Flow)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6F18C-FBF4-D030-8A94-FA4D97C4D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Blog Project Workflow</a:t>
            </a:r>
          </a:p>
          <a:p>
            <a:r>
              <a:rPr lang="en-US" dirty="0"/>
              <a:t>Admin creates categories (Admin Panel)</a:t>
            </a:r>
          </a:p>
          <a:p>
            <a:r>
              <a:rPr lang="en-US" dirty="0"/>
              <a:t>User registers</a:t>
            </a:r>
          </a:p>
          <a:p>
            <a:r>
              <a:rPr lang="en-US" dirty="0"/>
              <a:t>User logs in</a:t>
            </a:r>
          </a:p>
          <a:p>
            <a:r>
              <a:rPr lang="en-US" dirty="0"/>
              <a:t>User creates blog post (</a:t>
            </a:r>
            <a:r>
              <a:rPr lang="en-US" dirty="0" err="1"/>
              <a:t>ModelForm</a:t>
            </a:r>
            <a:r>
              <a:rPr lang="en-US" dirty="0"/>
              <a:t>)</a:t>
            </a:r>
          </a:p>
          <a:p>
            <a:r>
              <a:rPr lang="en-US" dirty="0"/>
              <a:t>Posts displayed publicly</a:t>
            </a:r>
          </a:p>
          <a:p>
            <a:r>
              <a:rPr lang="en-US" dirty="0"/>
              <a:t>User logs out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3411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BFABD-83B1-D379-7B21-AB2962B9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301BE-E659-3C4F-2F6A-960312FA4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Points</a:t>
            </a:r>
          </a:p>
          <a:p>
            <a:r>
              <a:rPr lang="en-US" dirty="0"/>
              <a:t>Django provides built-in authentication</a:t>
            </a:r>
          </a:p>
          <a:p>
            <a:r>
              <a:rPr lang="en-US" dirty="0"/>
              <a:t>Admin panel simplifies data management</a:t>
            </a:r>
          </a:p>
          <a:p>
            <a:r>
              <a:rPr lang="en-US" dirty="0"/>
              <a:t>Forms handle input and validation</a:t>
            </a:r>
          </a:p>
          <a:p>
            <a:r>
              <a:rPr lang="en-US" dirty="0" err="1"/>
              <a:t>ModelForm</a:t>
            </a:r>
            <a:r>
              <a:rPr lang="en-US" dirty="0"/>
              <a:t> reduces code and errors</a:t>
            </a:r>
          </a:p>
          <a:p>
            <a:r>
              <a:rPr lang="en-US" dirty="0"/>
              <a:t>Authentication improves security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2237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4458F5-2246-2DF6-2A15-79C9FCC64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568338-FF17-82DE-952F-473F3A6D1D34}"/>
              </a:ext>
            </a:extLst>
          </p:cNvPr>
          <p:cNvSpPr txBox="1"/>
          <p:nvPr/>
        </p:nvSpPr>
        <p:spPr>
          <a:xfrm>
            <a:off x="581192" y="241921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1: Create Virtual Environment (optional but recommended)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python -m </a:t>
            </a:r>
            <a:r>
              <a:rPr lang="en-US" dirty="0" err="1">
                <a:latin typeface="Courier New" panose="02070309020205020404" pitchFamily="49" charset="0"/>
              </a:rPr>
              <a:t>venv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venv</a:t>
            </a: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venv</a:t>
            </a:r>
            <a:r>
              <a:rPr lang="en-US" dirty="0">
                <a:latin typeface="Courier New" panose="02070309020205020404" pitchFamily="49" charset="0"/>
              </a:rPr>
              <a:t>\Scripts\activate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E29ADD-1AD8-28F7-5ADC-E8DE54488CD4}"/>
              </a:ext>
            </a:extLst>
          </p:cNvPr>
          <p:cNvSpPr txBox="1"/>
          <p:nvPr/>
        </p:nvSpPr>
        <p:spPr>
          <a:xfrm>
            <a:off x="581192" y="42460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2: Install Django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</a:rPr>
              <a:t>django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FA325A-5F58-5244-2783-15808209F62C}"/>
              </a:ext>
            </a:extLst>
          </p:cNvPr>
          <p:cNvSpPr txBox="1"/>
          <p:nvPr/>
        </p:nvSpPr>
        <p:spPr>
          <a:xfrm>
            <a:off x="581192" y="55188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3: Create Django Project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django</a:t>
            </a:r>
            <a:r>
              <a:rPr lang="en-US" dirty="0">
                <a:latin typeface="Courier New" panose="02070309020205020404" pitchFamily="49" charset="0"/>
              </a:rPr>
              <a:t>-admin </a:t>
            </a:r>
            <a:r>
              <a:rPr lang="en-US" dirty="0" err="1">
                <a:latin typeface="Courier New" panose="02070309020205020404" pitchFamily="49" charset="0"/>
              </a:rPr>
              <a:t>startproject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blogproject</a:t>
            </a: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cd </a:t>
            </a:r>
            <a:r>
              <a:rPr lang="en-US" dirty="0" err="1">
                <a:latin typeface="Courier New" panose="02070309020205020404" pitchFamily="49" charset="0"/>
              </a:rPr>
              <a:t>blogproject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3C3B35-A0C6-4F22-9A30-6B5FADEAF115}"/>
              </a:ext>
            </a:extLst>
          </p:cNvPr>
          <p:cNvSpPr txBox="1"/>
          <p:nvPr/>
        </p:nvSpPr>
        <p:spPr>
          <a:xfrm>
            <a:off x="657726" y="22435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Step 4: Create App</a:t>
            </a:r>
          </a:p>
          <a:p>
            <a:pPr rtl="0">
              <a:buNone/>
            </a:pPr>
            <a:r>
              <a:rPr lang="en-US">
                <a:latin typeface="Courier New" panose="02070309020205020404" pitchFamily="49" charset="0"/>
              </a:rPr>
              <a:t>python manage.py startapp blog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409B3-EEE7-C2F3-C9A9-3F91F93C1616}"/>
              </a:ext>
            </a:extLst>
          </p:cNvPr>
          <p:cNvSpPr txBox="1"/>
          <p:nvPr/>
        </p:nvSpPr>
        <p:spPr>
          <a:xfrm>
            <a:off x="657726" y="342900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5: Register App</a:t>
            </a:r>
          </a:p>
          <a:p>
            <a:pPr>
              <a:buNone/>
            </a:pPr>
            <a:r>
              <a:rPr lang="en-IN" dirty="0"/>
              <a:t>Open </a:t>
            </a:r>
            <a:r>
              <a:rPr lang="en-IN" dirty="0">
                <a:latin typeface="Courier New" panose="02070309020205020404" pitchFamily="49" charset="0"/>
              </a:rPr>
              <a:t>blogproject/settings.py</a:t>
            </a: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INSTALLED_APPS = [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'</a:t>
            </a:r>
            <a:r>
              <a:rPr lang="en-IN" dirty="0" err="1">
                <a:latin typeface="Courier New" panose="02070309020205020404" pitchFamily="49" charset="0"/>
              </a:rPr>
              <a:t>django.contrib.admin</a:t>
            </a:r>
            <a:r>
              <a:rPr lang="en-IN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'</a:t>
            </a:r>
            <a:r>
              <a:rPr lang="en-IN" dirty="0" err="1">
                <a:latin typeface="Courier New" panose="02070309020205020404" pitchFamily="49" charset="0"/>
              </a:rPr>
              <a:t>django.contrib.auth</a:t>
            </a:r>
            <a:r>
              <a:rPr lang="en-IN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'</a:t>
            </a:r>
            <a:r>
              <a:rPr lang="en-IN" dirty="0" err="1">
                <a:latin typeface="Courier New" panose="02070309020205020404" pitchFamily="49" charset="0"/>
              </a:rPr>
              <a:t>django.contrib.contenttypes</a:t>
            </a:r>
            <a:r>
              <a:rPr lang="en-IN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'</a:t>
            </a:r>
            <a:r>
              <a:rPr lang="en-IN" dirty="0" err="1">
                <a:latin typeface="Courier New" panose="02070309020205020404" pitchFamily="49" charset="0"/>
              </a:rPr>
              <a:t>django.contrib.sessions</a:t>
            </a:r>
            <a:r>
              <a:rPr lang="en-IN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'</a:t>
            </a:r>
            <a:r>
              <a:rPr lang="en-IN" dirty="0" err="1">
                <a:latin typeface="Courier New" panose="02070309020205020404" pitchFamily="49" charset="0"/>
              </a:rPr>
              <a:t>django.contrib.messages</a:t>
            </a:r>
            <a:r>
              <a:rPr lang="en-IN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'</a:t>
            </a:r>
            <a:r>
              <a:rPr lang="en-IN" dirty="0" err="1">
                <a:latin typeface="Courier New" panose="02070309020205020404" pitchFamily="49" charset="0"/>
              </a:rPr>
              <a:t>django.contrib.staticfiles</a:t>
            </a:r>
            <a:r>
              <a:rPr lang="en-IN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'blog',   # add this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03307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CCB12C-D0C8-A029-25A1-D21330B44D18}"/>
              </a:ext>
            </a:extLst>
          </p:cNvPr>
          <p:cNvSpPr txBox="1"/>
          <p:nvPr/>
        </p:nvSpPr>
        <p:spPr>
          <a:xfrm>
            <a:off x="481262" y="1863857"/>
            <a:ext cx="1224012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6: Create Models</a:t>
            </a:r>
          </a:p>
          <a:p>
            <a:pPr>
              <a:buNone/>
            </a:pPr>
            <a:r>
              <a:rPr lang="en-IN" sz="1600" dirty="0">
                <a:latin typeface="Courier New" panose="02070309020205020404" pitchFamily="49" charset="0"/>
              </a:rPr>
              <a:t>blog/models.py</a:t>
            </a:r>
            <a:endParaRPr lang="en-IN" sz="1600" dirty="0"/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from </a:t>
            </a:r>
            <a:r>
              <a:rPr lang="en-IN" sz="1600" dirty="0" err="1">
                <a:latin typeface="Courier New" panose="02070309020205020404" pitchFamily="49" charset="0"/>
              </a:rPr>
              <a:t>django.db</a:t>
            </a:r>
            <a:r>
              <a:rPr lang="en-IN" sz="1600" dirty="0">
                <a:latin typeface="Courier New" panose="02070309020205020404" pitchFamily="49" charset="0"/>
              </a:rPr>
              <a:t> import models</a:t>
            </a:r>
          </a:p>
          <a:p>
            <a:pPr rtl="0">
              <a:buNone/>
            </a:pPr>
            <a:endParaRPr lang="en-IN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class Category(</a:t>
            </a:r>
            <a:r>
              <a:rPr lang="en-IN" sz="1600" dirty="0" err="1">
                <a:latin typeface="Courier New" panose="02070309020205020404" pitchFamily="49" charset="0"/>
              </a:rPr>
              <a:t>models.Model</a:t>
            </a:r>
            <a:r>
              <a:rPr lang="en-IN" sz="1600" dirty="0">
                <a:latin typeface="Courier New" panose="02070309020205020404" pitchFamily="49" charset="0"/>
              </a:rPr>
              <a:t>):</a:t>
            </a: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name = </a:t>
            </a:r>
            <a:r>
              <a:rPr lang="en-IN" sz="1600" dirty="0" err="1">
                <a:latin typeface="Courier New" panose="02070309020205020404" pitchFamily="49" charset="0"/>
              </a:rPr>
              <a:t>models.CharField</a:t>
            </a:r>
            <a:r>
              <a:rPr lang="en-IN" sz="1600" dirty="0">
                <a:latin typeface="Courier New" panose="02070309020205020404" pitchFamily="49" charset="0"/>
              </a:rPr>
              <a:t>(</a:t>
            </a:r>
            <a:r>
              <a:rPr lang="en-IN" sz="1600" dirty="0" err="1">
                <a:latin typeface="Courier New" panose="02070309020205020404" pitchFamily="49" charset="0"/>
              </a:rPr>
              <a:t>max_length</a:t>
            </a:r>
            <a:r>
              <a:rPr lang="en-IN" sz="1600" dirty="0">
                <a:latin typeface="Courier New" panose="02070309020205020404" pitchFamily="49" charset="0"/>
              </a:rPr>
              <a:t>=100)</a:t>
            </a:r>
          </a:p>
          <a:p>
            <a:pPr rtl="0">
              <a:buNone/>
            </a:pPr>
            <a:endParaRPr lang="en-IN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def __str__(self):</a:t>
            </a: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    return self.name</a:t>
            </a:r>
          </a:p>
          <a:p>
            <a:pPr rtl="0">
              <a:buNone/>
            </a:pPr>
            <a:endParaRPr lang="en-IN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class Post(</a:t>
            </a:r>
            <a:r>
              <a:rPr lang="en-IN" sz="1600" dirty="0" err="1">
                <a:latin typeface="Courier New" panose="02070309020205020404" pitchFamily="49" charset="0"/>
              </a:rPr>
              <a:t>models.Model</a:t>
            </a:r>
            <a:r>
              <a:rPr lang="en-IN" sz="1600" dirty="0">
                <a:latin typeface="Courier New" panose="02070309020205020404" pitchFamily="49" charset="0"/>
              </a:rPr>
              <a:t>):</a:t>
            </a: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title = </a:t>
            </a:r>
            <a:r>
              <a:rPr lang="en-IN" sz="1600" dirty="0" err="1">
                <a:latin typeface="Courier New" panose="02070309020205020404" pitchFamily="49" charset="0"/>
              </a:rPr>
              <a:t>models.CharField</a:t>
            </a:r>
            <a:r>
              <a:rPr lang="en-IN" sz="1600" dirty="0">
                <a:latin typeface="Courier New" panose="02070309020205020404" pitchFamily="49" charset="0"/>
              </a:rPr>
              <a:t>(</a:t>
            </a:r>
            <a:r>
              <a:rPr lang="en-IN" sz="1600" dirty="0" err="1">
                <a:latin typeface="Courier New" panose="02070309020205020404" pitchFamily="49" charset="0"/>
              </a:rPr>
              <a:t>max_length</a:t>
            </a:r>
            <a:r>
              <a:rPr lang="en-IN" sz="1600" dirty="0">
                <a:latin typeface="Courier New" panose="02070309020205020404" pitchFamily="49" charset="0"/>
              </a:rPr>
              <a:t>=200)</a:t>
            </a: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content = </a:t>
            </a:r>
            <a:r>
              <a:rPr lang="en-IN" sz="1600" dirty="0" err="1">
                <a:latin typeface="Courier New" panose="02070309020205020404" pitchFamily="49" charset="0"/>
              </a:rPr>
              <a:t>models.TextField</a:t>
            </a:r>
            <a:r>
              <a:rPr lang="en-IN" sz="1600" dirty="0"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category = </a:t>
            </a:r>
            <a:r>
              <a:rPr lang="en-IN" sz="1600" dirty="0" err="1">
                <a:latin typeface="Courier New" panose="02070309020205020404" pitchFamily="49" charset="0"/>
              </a:rPr>
              <a:t>models.ForeignKey</a:t>
            </a:r>
            <a:r>
              <a:rPr lang="en-IN" sz="1600" dirty="0">
                <a:latin typeface="Courier New" panose="02070309020205020404" pitchFamily="49" charset="0"/>
              </a:rPr>
              <a:t>(Category, </a:t>
            </a:r>
            <a:r>
              <a:rPr lang="en-IN" sz="1600" dirty="0" err="1">
                <a:latin typeface="Courier New" panose="02070309020205020404" pitchFamily="49" charset="0"/>
              </a:rPr>
              <a:t>on_delete</a:t>
            </a:r>
            <a:r>
              <a:rPr lang="en-IN" sz="1600" dirty="0">
                <a:latin typeface="Courier New" panose="02070309020205020404" pitchFamily="49" charset="0"/>
              </a:rPr>
              <a:t>=</a:t>
            </a:r>
            <a:r>
              <a:rPr lang="en-IN" sz="1600" dirty="0" err="1">
                <a:latin typeface="Courier New" panose="02070309020205020404" pitchFamily="49" charset="0"/>
              </a:rPr>
              <a:t>models.CASCADE</a:t>
            </a:r>
            <a:r>
              <a:rPr lang="en-IN" sz="1600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</a:t>
            </a:r>
            <a:r>
              <a:rPr lang="en-IN" sz="1600" dirty="0" err="1">
                <a:latin typeface="Courier New" panose="02070309020205020404" pitchFamily="49" charset="0"/>
              </a:rPr>
              <a:t>created_at</a:t>
            </a:r>
            <a:r>
              <a:rPr lang="en-IN" sz="1600" dirty="0">
                <a:latin typeface="Courier New" panose="02070309020205020404" pitchFamily="49" charset="0"/>
              </a:rPr>
              <a:t> = </a:t>
            </a:r>
            <a:r>
              <a:rPr lang="en-IN" sz="1600" dirty="0" err="1">
                <a:latin typeface="Courier New" panose="02070309020205020404" pitchFamily="49" charset="0"/>
              </a:rPr>
              <a:t>models.DateTimeField</a:t>
            </a:r>
            <a:r>
              <a:rPr lang="en-IN" sz="1600" dirty="0">
                <a:latin typeface="Courier New" panose="02070309020205020404" pitchFamily="49" charset="0"/>
              </a:rPr>
              <a:t>(</a:t>
            </a:r>
            <a:r>
              <a:rPr lang="en-IN" sz="1600" dirty="0" err="1">
                <a:latin typeface="Courier New" panose="02070309020205020404" pitchFamily="49" charset="0"/>
              </a:rPr>
              <a:t>auto_now_add</a:t>
            </a:r>
            <a:r>
              <a:rPr lang="en-IN" sz="1600" dirty="0">
                <a:latin typeface="Courier New" panose="02070309020205020404" pitchFamily="49" charset="0"/>
              </a:rPr>
              <a:t>=True)</a:t>
            </a:r>
          </a:p>
          <a:p>
            <a:pPr rtl="0">
              <a:buNone/>
            </a:pPr>
            <a:endParaRPr lang="en-IN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def __str__(self):</a:t>
            </a: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    return </a:t>
            </a:r>
            <a:r>
              <a:rPr lang="en-IN" sz="1600" dirty="0" err="1">
                <a:latin typeface="Courier New" panose="02070309020205020404" pitchFamily="49" charset="0"/>
              </a:rPr>
              <a:t>self.title</a:t>
            </a:r>
            <a:endParaRPr lang="en-IN" sz="16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642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608925C-147B-5829-AA99-ABF35AB9F7E9}"/>
              </a:ext>
            </a:extLst>
          </p:cNvPr>
          <p:cNvSpPr txBox="1"/>
          <p:nvPr/>
        </p:nvSpPr>
        <p:spPr>
          <a:xfrm>
            <a:off x="577516" y="207298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7: Migrate Database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python manage.py </a:t>
            </a:r>
            <a:r>
              <a:rPr lang="en-IN" dirty="0" err="1">
                <a:latin typeface="Courier New" panose="02070309020205020404" pitchFamily="49" charset="0"/>
              </a:rPr>
              <a:t>makemigrations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python manage.py migrate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2B6985-CA4E-E555-4452-B516C4AB14AB}"/>
              </a:ext>
            </a:extLst>
          </p:cNvPr>
          <p:cNvSpPr txBox="1"/>
          <p:nvPr/>
        </p:nvSpPr>
        <p:spPr>
          <a:xfrm>
            <a:off x="577516" y="386168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8: Register Models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blog/admin.py</a:t>
            </a: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from </a:t>
            </a:r>
            <a:r>
              <a:rPr lang="en-IN" dirty="0" err="1">
                <a:latin typeface="Courier New" panose="02070309020205020404" pitchFamily="49" charset="0"/>
              </a:rPr>
              <a:t>django.contrib</a:t>
            </a:r>
            <a:r>
              <a:rPr lang="en-IN" dirty="0">
                <a:latin typeface="Courier New" panose="02070309020205020404" pitchFamily="49" charset="0"/>
              </a:rPr>
              <a:t> import admin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from .models import Post, Category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admin.site.register</a:t>
            </a:r>
            <a:r>
              <a:rPr lang="en-IN" dirty="0">
                <a:latin typeface="Courier New" panose="02070309020205020404" pitchFamily="49" charset="0"/>
              </a:rPr>
              <a:t>(Post)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admin.site.register</a:t>
            </a:r>
            <a:r>
              <a:rPr lang="en-IN" dirty="0">
                <a:latin typeface="Courier New" panose="02070309020205020404" pitchFamily="49" charset="0"/>
              </a:rPr>
              <a:t>(Category)</a:t>
            </a:r>
          </a:p>
        </p:txBody>
      </p:sp>
    </p:spTree>
    <p:extLst>
      <p:ext uri="{BB962C8B-B14F-4D97-AF65-F5344CB8AC3E}">
        <p14:creationId xmlns:p14="http://schemas.microsoft.com/office/powerpoint/2010/main" val="2702507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0652C-B897-C84E-3313-59B7DFEFA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A1483A-26D5-8286-E8D0-415E34BB8934}"/>
              </a:ext>
            </a:extLst>
          </p:cNvPr>
          <p:cNvSpPr txBox="1"/>
          <p:nvPr/>
        </p:nvSpPr>
        <p:spPr>
          <a:xfrm>
            <a:off x="561474" y="22916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Step 9: Create Superuser</a:t>
            </a:r>
          </a:p>
          <a:p>
            <a:pPr rtl="0">
              <a:buNone/>
            </a:pPr>
            <a:r>
              <a:rPr lang="en-US">
                <a:latin typeface="Courier New" panose="02070309020205020404" pitchFamily="49" charset="0"/>
              </a:rPr>
              <a:t>python manage.py createsuperuser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008AA-E76A-6CAD-F48D-C3811FC38D35}"/>
              </a:ext>
            </a:extLst>
          </p:cNvPr>
          <p:cNvSpPr txBox="1"/>
          <p:nvPr/>
        </p:nvSpPr>
        <p:spPr>
          <a:xfrm>
            <a:off x="561474" y="316468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10: App URLs</a:t>
            </a:r>
          </a:p>
          <a:p>
            <a:pPr>
              <a:buNone/>
            </a:pPr>
            <a:r>
              <a:rPr lang="en-IN" dirty="0"/>
              <a:t>Create </a:t>
            </a:r>
            <a:r>
              <a:rPr lang="en-IN" dirty="0">
                <a:latin typeface="Courier New" panose="02070309020205020404" pitchFamily="49" charset="0"/>
              </a:rPr>
              <a:t>blog/urls.py</a:t>
            </a: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from </a:t>
            </a:r>
            <a:r>
              <a:rPr lang="en-IN" dirty="0" err="1">
                <a:latin typeface="Courier New" panose="02070309020205020404" pitchFamily="49" charset="0"/>
              </a:rPr>
              <a:t>django.urls</a:t>
            </a:r>
            <a:r>
              <a:rPr lang="en-IN" dirty="0">
                <a:latin typeface="Courier New" panose="02070309020205020404" pitchFamily="49" charset="0"/>
              </a:rPr>
              <a:t> import path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from . import views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urlpatterns</a:t>
            </a:r>
            <a:r>
              <a:rPr lang="en-IN" dirty="0">
                <a:latin typeface="Courier New" panose="02070309020205020404" pitchFamily="49" charset="0"/>
              </a:rPr>
              <a:t> = [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path('', </a:t>
            </a:r>
            <a:r>
              <a:rPr lang="en-IN" dirty="0" err="1">
                <a:latin typeface="Courier New" panose="02070309020205020404" pitchFamily="49" charset="0"/>
              </a:rPr>
              <a:t>views.post_list</a:t>
            </a:r>
            <a:r>
              <a:rPr lang="en-IN" dirty="0">
                <a:latin typeface="Courier New" panose="02070309020205020404" pitchFamily="49" charset="0"/>
              </a:rPr>
              <a:t>, name='</a:t>
            </a:r>
            <a:r>
              <a:rPr lang="en-IN" dirty="0" err="1">
                <a:latin typeface="Courier New" panose="02070309020205020404" pitchFamily="49" charset="0"/>
              </a:rPr>
              <a:t>post_list</a:t>
            </a:r>
            <a:r>
              <a:rPr lang="en-IN" dirty="0">
                <a:latin typeface="Courier New" panose="02070309020205020404" pitchFamily="49" charset="0"/>
              </a:rPr>
              <a:t>'),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path('create/', </a:t>
            </a:r>
            <a:r>
              <a:rPr lang="en-IN" dirty="0" err="1">
                <a:latin typeface="Courier New" panose="02070309020205020404" pitchFamily="49" charset="0"/>
              </a:rPr>
              <a:t>views.post_create</a:t>
            </a:r>
            <a:r>
              <a:rPr lang="en-IN" dirty="0">
                <a:latin typeface="Courier New" panose="02070309020205020404" pitchFamily="49" charset="0"/>
              </a:rPr>
              <a:t>, name='</a:t>
            </a:r>
            <a:r>
              <a:rPr lang="en-IN" dirty="0" err="1">
                <a:latin typeface="Courier New" panose="02070309020205020404" pitchFamily="49" charset="0"/>
              </a:rPr>
              <a:t>post_create</a:t>
            </a:r>
            <a:r>
              <a:rPr lang="en-IN" dirty="0">
                <a:latin typeface="Courier New" panose="02070309020205020404" pitchFamily="49" charset="0"/>
              </a:rPr>
              <a:t>'),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path('edit/&lt;</a:t>
            </a:r>
            <a:r>
              <a:rPr lang="en-IN" dirty="0" err="1">
                <a:latin typeface="Courier New" panose="02070309020205020404" pitchFamily="49" charset="0"/>
              </a:rPr>
              <a:t>int:id</a:t>
            </a:r>
            <a:r>
              <a:rPr lang="en-IN" dirty="0">
                <a:latin typeface="Courier New" panose="02070309020205020404" pitchFamily="49" charset="0"/>
              </a:rPr>
              <a:t>&gt;/', </a:t>
            </a:r>
            <a:r>
              <a:rPr lang="en-IN" dirty="0" err="1">
                <a:latin typeface="Courier New" panose="02070309020205020404" pitchFamily="49" charset="0"/>
              </a:rPr>
              <a:t>views.post_edit</a:t>
            </a:r>
            <a:r>
              <a:rPr lang="en-IN" dirty="0">
                <a:latin typeface="Courier New" panose="02070309020205020404" pitchFamily="49" charset="0"/>
              </a:rPr>
              <a:t>, name='</a:t>
            </a:r>
            <a:r>
              <a:rPr lang="en-IN" dirty="0" err="1">
                <a:latin typeface="Courier New" panose="02070309020205020404" pitchFamily="49" charset="0"/>
              </a:rPr>
              <a:t>post_edit</a:t>
            </a:r>
            <a:r>
              <a:rPr lang="en-IN" dirty="0">
                <a:latin typeface="Courier New" panose="02070309020205020404" pitchFamily="49" charset="0"/>
              </a:rPr>
              <a:t>'),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872741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A3C6-F5F8-5DBB-06A4-1E7DAF39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1DC255-CF65-A643-1C45-FEF82E157402}"/>
              </a:ext>
            </a:extLst>
          </p:cNvPr>
          <p:cNvSpPr txBox="1"/>
          <p:nvPr/>
        </p:nvSpPr>
        <p:spPr>
          <a:xfrm>
            <a:off x="810928" y="2420283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11: Project URLs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blogproject/urls.py</a:t>
            </a: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from </a:t>
            </a:r>
            <a:r>
              <a:rPr lang="en-IN" dirty="0" err="1">
                <a:latin typeface="Courier New" panose="02070309020205020404" pitchFamily="49" charset="0"/>
              </a:rPr>
              <a:t>django.contrib</a:t>
            </a:r>
            <a:r>
              <a:rPr lang="en-IN" dirty="0">
                <a:latin typeface="Courier New" panose="02070309020205020404" pitchFamily="49" charset="0"/>
              </a:rPr>
              <a:t> import admin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from </a:t>
            </a:r>
            <a:r>
              <a:rPr lang="en-IN" dirty="0" err="1">
                <a:latin typeface="Courier New" panose="02070309020205020404" pitchFamily="49" charset="0"/>
              </a:rPr>
              <a:t>django.urls</a:t>
            </a:r>
            <a:r>
              <a:rPr lang="en-IN" dirty="0">
                <a:latin typeface="Courier New" panose="02070309020205020404" pitchFamily="49" charset="0"/>
              </a:rPr>
              <a:t> import path, include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urlpatterns</a:t>
            </a:r>
            <a:r>
              <a:rPr lang="en-IN" dirty="0">
                <a:latin typeface="Courier New" panose="02070309020205020404" pitchFamily="49" charset="0"/>
              </a:rPr>
              <a:t> = [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path('admin/', </a:t>
            </a:r>
            <a:r>
              <a:rPr lang="en-IN" dirty="0" err="1">
                <a:latin typeface="Courier New" panose="02070309020205020404" pitchFamily="49" charset="0"/>
              </a:rPr>
              <a:t>admin.site.urls</a:t>
            </a:r>
            <a:r>
              <a:rPr lang="en-IN" dirty="0">
                <a:latin typeface="Courier New" panose="02070309020205020404" pitchFamily="49" charset="0"/>
              </a:rPr>
              <a:t>),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path('', include('</a:t>
            </a:r>
            <a:r>
              <a:rPr lang="en-IN" dirty="0" err="1">
                <a:latin typeface="Courier New" panose="02070309020205020404" pitchFamily="49" charset="0"/>
              </a:rPr>
              <a:t>blog.urls</a:t>
            </a:r>
            <a:r>
              <a:rPr lang="en-IN" dirty="0">
                <a:latin typeface="Courier New" panose="02070309020205020404" pitchFamily="49" charset="0"/>
              </a:rPr>
              <a:t>')),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180520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3FD2-45C4-AADA-F31A-FD4AC64B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4B57E5-7E93-1C78-D75C-3B54D859257C}"/>
              </a:ext>
            </a:extLst>
          </p:cNvPr>
          <p:cNvSpPr txBox="1"/>
          <p:nvPr/>
        </p:nvSpPr>
        <p:spPr>
          <a:xfrm>
            <a:off x="272715" y="1891072"/>
            <a:ext cx="11742821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12: Views with Pagination &amp; Forms</a:t>
            </a:r>
          </a:p>
          <a:p>
            <a:pPr>
              <a:buNone/>
            </a:pPr>
            <a:r>
              <a:rPr lang="en-IN" sz="1600" dirty="0">
                <a:latin typeface="Courier New" panose="02070309020205020404" pitchFamily="49" charset="0"/>
              </a:rPr>
              <a:t>blog/views.py</a:t>
            </a:r>
            <a:endParaRPr lang="en-IN" sz="1600" dirty="0"/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from </a:t>
            </a:r>
            <a:r>
              <a:rPr lang="en-IN" sz="1600" dirty="0" err="1">
                <a:latin typeface="Courier New" panose="02070309020205020404" pitchFamily="49" charset="0"/>
              </a:rPr>
              <a:t>django.shortcuts</a:t>
            </a:r>
            <a:r>
              <a:rPr lang="en-IN" sz="1600" dirty="0">
                <a:latin typeface="Courier New" panose="02070309020205020404" pitchFamily="49" charset="0"/>
              </a:rPr>
              <a:t> import render, redirect, get_object_or_404</a:t>
            </a: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from .models import Post</a:t>
            </a: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from .forms import </a:t>
            </a:r>
            <a:r>
              <a:rPr lang="en-IN" sz="1600" dirty="0" err="1">
                <a:latin typeface="Courier New" panose="02070309020205020404" pitchFamily="49" charset="0"/>
              </a:rPr>
              <a:t>PostForm</a:t>
            </a:r>
            <a:endParaRPr lang="en-IN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from </a:t>
            </a:r>
            <a:r>
              <a:rPr lang="en-IN" sz="1600" dirty="0" err="1">
                <a:latin typeface="Courier New" panose="02070309020205020404" pitchFamily="49" charset="0"/>
              </a:rPr>
              <a:t>django.core.paginator</a:t>
            </a:r>
            <a:r>
              <a:rPr lang="en-IN" sz="1600" dirty="0">
                <a:latin typeface="Courier New" panose="02070309020205020404" pitchFamily="49" charset="0"/>
              </a:rPr>
              <a:t> import Paginator</a:t>
            </a:r>
          </a:p>
          <a:p>
            <a:pPr rtl="0">
              <a:buNone/>
            </a:pPr>
            <a:endParaRPr lang="en-IN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def </a:t>
            </a:r>
            <a:r>
              <a:rPr lang="en-IN" sz="1600" dirty="0" err="1">
                <a:latin typeface="Courier New" panose="02070309020205020404" pitchFamily="49" charset="0"/>
              </a:rPr>
              <a:t>post_list</a:t>
            </a:r>
            <a:r>
              <a:rPr lang="en-IN" sz="1600" dirty="0">
                <a:latin typeface="Courier New" panose="02070309020205020404" pitchFamily="49" charset="0"/>
              </a:rPr>
              <a:t>(request):</a:t>
            </a: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posts = </a:t>
            </a:r>
            <a:r>
              <a:rPr lang="en-IN" sz="1600" dirty="0" err="1">
                <a:latin typeface="Courier New" panose="02070309020205020404" pitchFamily="49" charset="0"/>
              </a:rPr>
              <a:t>Post.objects.all</a:t>
            </a:r>
            <a:r>
              <a:rPr lang="en-IN" sz="1600" dirty="0">
                <a:latin typeface="Courier New" panose="02070309020205020404" pitchFamily="49" charset="0"/>
              </a:rPr>
              <a:t>().</a:t>
            </a:r>
            <a:r>
              <a:rPr lang="en-IN" sz="1600" dirty="0" err="1">
                <a:latin typeface="Courier New" panose="02070309020205020404" pitchFamily="49" charset="0"/>
              </a:rPr>
              <a:t>order_by</a:t>
            </a:r>
            <a:r>
              <a:rPr lang="en-IN" sz="1600" dirty="0">
                <a:latin typeface="Courier New" panose="02070309020205020404" pitchFamily="49" charset="0"/>
              </a:rPr>
              <a:t>('-</a:t>
            </a:r>
            <a:r>
              <a:rPr lang="en-IN" sz="1600" dirty="0" err="1">
                <a:latin typeface="Courier New" panose="02070309020205020404" pitchFamily="49" charset="0"/>
              </a:rPr>
              <a:t>created_at</a:t>
            </a:r>
            <a:r>
              <a:rPr lang="en-IN" sz="1600" dirty="0">
                <a:latin typeface="Courier New" panose="02070309020205020404" pitchFamily="49" charset="0"/>
              </a:rPr>
              <a:t>')</a:t>
            </a: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paginator = Paginator(posts, 5)   # 5 posts per page</a:t>
            </a: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</a:t>
            </a:r>
            <a:r>
              <a:rPr lang="en-IN" sz="1600" dirty="0" err="1">
                <a:latin typeface="Courier New" panose="02070309020205020404" pitchFamily="49" charset="0"/>
              </a:rPr>
              <a:t>page_number</a:t>
            </a:r>
            <a:r>
              <a:rPr lang="en-IN" sz="1600" dirty="0">
                <a:latin typeface="Courier New" panose="02070309020205020404" pitchFamily="49" charset="0"/>
              </a:rPr>
              <a:t> = </a:t>
            </a:r>
            <a:r>
              <a:rPr lang="en-IN" sz="1600" dirty="0" err="1">
                <a:latin typeface="Courier New" panose="02070309020205020404" pitchFamily="49" charset="0"/>
              </a:rPr>
              <a:t>request.GET.get</a:t>
            </a:r>
            <a:r>
              <a:rPr lang="en-IN" sz="1600" dirty="0">
                <a:latin typeface="Courier New" panose="02070309020205020404" pitchFamily="49" charset="0"/>
              </a:rPr>
              <a:t>('page')</a:t>
            </a: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</a:t>
            </a:r>
            <a:r>
              <a:rPr lang="en-IN" sz="1600" dirty="0" err="1">
                <a:latin typeface="Courier New" panose="02070309020205020404" pitchFamily="49" charset="0"/>
              </a:rPr>
              <a:t>page_obj</a:t>
            </a:r>
            <a:r>
              <a:rPr lang="en-IN" sz="1600" dirty="0">
                <a:latin typeface="Courier New" panose="02070309020205020404" pitchFamily="49" charset="0"/>
              </a:rPr>
              <a:t> = </a:t>
            </a:r>
            <a:r>
              <a:rPr lang="en-IN" sz="1600" dirty="0" err="1">
                <a:latin typeface="Courier New" panose="02070309020205020404" pitchFamily="49" charset="0"/>
              </a:rPr>
              <a:t>paginator.get_page</a:t>
            </a:r>
            <a:r>
              <a:rPr lang="en-IN" sz="1600" dirty="0">
                <a:latin typeface="Courier New" panose="02070309020205020404" pitchFamily="49" charset="0"/>
              </a:rPr>
              <a:t>(</a:t>
            </a:r>
            <a:r>
              <a:rPr lang="en-IN" sz="1600" dirty="0" err="1">
                <a:latin typeface="Courier New" panose="02070309020205020404" pitchFamily="49" charset="0"/>
              </a:rPr>
              <a:t>page_number</a:t>
            </a:r>
            <a:r>
              <a:rPr lang="en-IN" sz="1600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endParaRPr lang="en-IN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600" dirty="0">
                <a:latin typeface="Courier New" panose="02070309020205020404" pitchFamily="49" charset="0"/>
              </a:rPr>
              <a:t>    return render(request, 'blog/post_list.html', {'</a:t>
            </a:r>
            <a:r>
              <a:rPr lang="en-IN" sz="1600" dirty="0" err="1">
                <a:latin typeface="Courier New" panose="02070309020205020404" pitchFamily="49" charset="0"/>
              </a:rPr>
              <a:t>page_obj</a:t>
            </a:r>
            <a:r>
              <a:rPr lang="en-IN" sz="1600" dirty="0">
                <a:latin typeface="Courier New" panose="02070309020205020404" pitchFamily="49" charset="0"/>
              </a:rPr>
              <a:t>': </a:t>
            </a:r>
            <a:r>
              <a:rPr lang="en-IN" sz="1600" dirty="0" err="1">
                <a:latin typeface="Courier New" panose="02070309020205020404" pitchFamily="49" charset="0"/>
              </a:rPr>
              <a:t>page_obj</a:t>
            </a:r>
            <a:r>
              <a:rPr lang="en-IN" sz="1600" dirty="0">
                <a:latin typeface="Courier New" panose="02070309020205020404" pitchFamily="49" charset="0"/>
              </a:rPr>
              <a:t>})</a:t>
            </a:r>
          </a:p>
          <a:p>
            <a:pPr rtl="0">
              <a:buNone/>
            </a:pPr>
            <a:endParaRPr lang="en-IN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sz="16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83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4117-5AFA-BE0B-4433-3745410A4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3AFB07-D10B-66E8-CCAD-4006DFD509E3}"/>
              </a:ext>
            </a:extLst>
          </p:cNvPr>
          <p:cNvSpPr txBox="1"/>
          <p:nvPr/>
        </p:nvSpPr>
        <p:spPr>
          <a:xfrm>
            <a:off x="335280" y="1952032"/>
            <a:ext cx="11742821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12: Views with Pagination &amp; Forms</a:t>
            </a:r>
          </a:p>
          <a:p>
            <a:pPr>
              <a:buNone/>
            </a:pPr>
            <a:endParaRPr lang="en-IN" b="1" dirty="0"/>
          </a:p>
          <a:p>
            <a:r>
              <a:rPr lang="en-IN" dirty="0">
                <a:latin typeface="Courier New" panose="02070309020205020404" pitchFamily="49" charset="0"/>
              </a:rPr>
              <a:t>blog/views.py</a:t>
            </a:r>
            <a:endParaRPr lang="en-IN" dirty="0"/>
          </a:p>
          <a:p>
            <a:pPr>
              <a:buNone/>
            </a:pPr>
            <a:endParaRPr lang="en-IN" b="1" dirty="0"/>
          </a:p>
          <a:p>
            <a:pPr rtl="0">
              <a:buNone/>
            </a:pPr>
            <a:endParaRPr lang="en-IN" sz="1600" dirty="0">
              <a:latin typeface="Courier New" panose="02070309020205020404" pitchFamily="49" charset="0"/>
            </a:endParaRPr>
          </a:p>
          <a:p>
            <a:r>
              <a:rPr lang="en-IN" sz="1600" dirty="0">
                <a:latin typeface="Courier New" panose="02070309020205020404" pitchFamily="49" charset="0"/>
              </a:rPr>
              <a:t>def </a:t>
            </a:r>
            <a:r>
              <a:rPr lang="en-IN" sz="1600" dirty="0" err="1">
                <a:latin typeface="Courier New" panose="02070309020205020404" pitchFamily="49" charset="0"/>
              </a:rPr>
              <a:t>post_create</a:t>
            </a:r>
            <a:r>
              <a:rPr lang="en-IN" sz="1600" dirty="0">
                <a:latin typeface="Courier New" panose="02070309020205020404" pitchFamily="49" charset="0"/>
              </a:rPr>
              <a:t>(request):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if </a:t>
            </a:r>
            <a:r>
              <a:rPr lang="en-IN" sz="1600" dirty="0" err="1">
                <a:latin typeface="Courier New" panose="02070309020205020404" pitchFamily="49" charset="0"/>
              </a:rPr>
              <a:t>request.method</a:t>
            </a:r>
            <a:r>
              <a:rPr lang="en-IN" sz="1600" dirty="0">
                <a:latin typeface="Courier New" panose="02070309020205020404" pitchFamily="49" charset="0"/>
              </a:rPr>
              <a:t> == 'POST':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    form = </a:t>
            </a:r>
            <a:r>
              <a:rPr lang="en-IN" sz="1600" dirty="0" err="1">
                <a:latin typeface="Courier New" panose="02070309020205020404" pitchFamily="49" charset="0"/>
              </a:rPr>
              <a:t>PostForm</a:t>
            </a:r>
            <a:r>
              <a:rPr lang="en-IN" sz="1600" dirty="0">
                <a:latin typeface="Courier New" panose="02070309020205020404" pitchFamily="49" charset="0"/>
              </a:rPr>
              <a:t>(</a:t>
            </a:r>
            <a:r>
              <a:rPr lang="en-IN" sz="1600" dirty="0" err="1">
                <a:latin typeface="Courier New" panose="02070309020205020404" pitchFamily="49" charset="0"/>
              </a:rPr>
              <a:t>request.POST</a:t>
            </a:r>
            <a:r>
              <a:rPr lang="en-IN" sz="1600" dirty="0">
                <a:latin typeface="Courier New" panose="02070309020205020404" pitchFamily="49" charset="0"/>
              </a:rPr>
              <a:t>)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    if </a:t>
            </a:r>
            <a:r>
              <a:rPr lang="en-IN" sz="1600" dirty="0" err="1">
                <a:latin typeface="Courier New" panose="02070309020205020404" pitchFamily="49" charset="0"/>
              </a:rPr>
              <a:t>form.is_valid</a:t>
            </a:r>
            <a:r>
              <a:rPr lang="en-IN" sz="1600" dirty="0">
                <a:latin typeface="Courier New" panose="02070309020205020404" pitchFamily="49" charset="0"/>
              </a:rPr>
              <a:t>():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        </a:t>
            </a:r>
            <a:r>
              <a:rPr lang="en-IN" sz="1600" dirty="0" err="1">
                <a:latin typeface="Courier New" panose="02070309020205020404" pitchFamily="49" charset="0"/>
              </a:rPr>
              <a:t>form.save</a:t>
            </a:r>
            <a:r>
              <a:rPr lang="en-IN" sz="1600" dirty="0">
                <a:latin typeface="Courier New" panose="02070309020205020404" pitchFamily="49" charset="0"/>
              </a:rPr>
              <a:t>()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        return redirect('</a:t>
            </a:r>
            <a:r>
              <a:rPr lang="en-IN" sz="1600" dirty="0" err="1">
                <a:latin typeface="Courier New" panose="02070309020205020404" pitchFamily="49" charset="0"/>
              </a:rPr>
              <a:t>post_list</a:t>
            </a:r>
            <a:r>
              <a:rPr lang="en-IN" sz="1600" dirty="0">
                <a:latin typeface="Courier New" panose="02070309020205020404" pitchFamily="49" charset="0"/>
              </a:rPr>
              <a:t>')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else: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    form = </a:t>
            </a:r>
            <a:r>
              <a:rPr lang="en-IN" sz="1600" dirty="0" err="1">
                <a:latin typeface="Courier New" panose="02070309020205020404" pitchFamily="49" charset="0"/>
              </a:rPr>
              <a:t>PostForm</a:t>
            </a:r>
            <a:r>
              <a:rPr lang="en-IN" sz="1600" dirty="0">
                <a:latin typeface="Courier New" panose="02070309020205020404" pitchFamily="49" charset="0"/>
              </a:rPr>
              <a:t>()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return render(request, 'blog/post_form.html', {'form': form})</a:t>
            </a:r>
          </a:p>
          <a:p>
            <a:endParaRPr lang="en-IN" sz="1600" dirty="0">
              <a:latin typeface="Courier New" panose="02070309020205020404" pitchFamily="49" charset="0"/>
            </a:endParaRPr>
          </a:p>
          <a:p>
            <a:endParaRPr lang="en-IN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sz="16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244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087BB-A5E1-F386-41AB-5544B0EA8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EE1EDA-76DA-E90C-8C48-B4E7EA51AFDA}"/>
              </a:ext>
            </a:extLst>
          </p:cNvPr>
          <p:cNvSpPr txBox="1"/>
          <p:nvPr/>
        </p:nvSpPr>
        <p:spPr>
          <a:xfrm>
            <a:off x="594360" y="2317792"/>
            <a:ext cx="11742821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12: Views with Pagination &amp; Forms</a:t>
            </a:r>
          </a:p>
          <a:p>
            <a:r>
              <a:rPr lang="en-IN" dirty="0">
                <a:latin typeface="Courier New" panose="02070309020205020404" pitchFamily="49" charset="0"/>
              </a:rPr>
              <a:t>blog/views.py</a:t>
            </a:r>
            <a:endParaRPr lang="en-IN" dirty="0"/>
          </a:p>
          <a:p>
            <a:pPr>
              <a:buNone/>
            </a:pPr>
            <a:endParaRPr lang="en-IN" b="1" dirty="0"/>
          </a:p>
          <a:p>
            <a:pPr rtl="0">
              <a:buNone/>
            </a:pPr>
            <a:endParaRPr lang="en-IN" sz="1600" dirty="0">
              <a:latin typeface="Courier New" panose="02070309020205020404" pitchFamily="49" charset="0"/>
            </a:endParaRPr>
          </a:p>
          <a:p>
            <a:endParaRPr lang="en-IN" sz="1600" dirty="0">
              <a:latin typeface="Courier New" panose="02070309020205020404" pitchFamily="49" charset="0"/>
            </a:endParaRPr>
          </a:p>
          <a:p>
            <a:r>
              <a:rPr lang="en-IN" sz="1600" dirty="0">
                <a:latin typeface="Courier New" panose="02070309020205020404" pitchFamily="49" charset="0"/>
              </a:rPr>
              <a:t>def </a:t>
            </a:r>
            <a:r>
              <a:rPr lang="en-IN" sz="1600" dirty="0" err="1">
                <a:latin typeface="Courier New" panose="02070309020205020404" pitchFamily="49" charset="0"/>
              </a:rPr>
              <a:t>post_edit</a:t>
            </a:r>
            <a:r>
              <a:rPr lang="en-IN" sz="1600" dirty="0">
                <a:latin typeface="Courier New" panose="02070309020205020404" pitchFamily="49" charset="0"/>
              </a:rPr>
              <a:t>(request, id):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post = get_object_or_404(Post, id=id)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form = </a:t>
            </a:r>
            <a:r>
              <a:rPr lang="en-IN" sz="1600" dirty="0" err="1">
                <a:latin typeface="Courier New" panose="02070309020205020404" pitchFamily="49" charset="0"/>
              </a:rPr>
              <a:t>PostForm</a:t>
            </a:r>
            <a:r>
              <a:rPr lang="en-IN" sz="1600" dirty="0">
                <a:latin typeface="Courier New" panose="02070309020205020404" pitchFamily="49" charset="0"/>
              </a:rPr>
              <a:t>(</a:t>
            </a:r>
            <a:r>
              <a:rPr lang="en-IN" sz="1600" dirty="0" err="1">
                <a:latin typeface="Courier New" panose="02070309020205020404" pitchFamily="49" charset="0"/>
              </a:rPr>
              <a:t>request.POST</a:t>
            </a:r>
            <a:r>
              <a:rPr lang="en-IN" sz="1600" dirty="0">
                <a:latin typeface="Courier New" panose="02070309020205020404" pitchFamily="49" charset="0"/>
              </a:rPr>
              <a:t> or None, instance=post)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if </a:t>
            </a:r>
            <a:r>
              <a:rPr lang="en-IN" sz="1600" dirty="0" err="1">
                <a:latin typeface="Courier New" panose="02070309020205020404" pitchFamily="49" charset="0"/>
              </a:rPr>
              <a:t>form.is_valid</a:t>
            </a:r>
            <a:r>
              <a:rPr lang="en-IN" sz="1600" dirty="0">
                <a:latin typeface="Courier New" panose="02070309020205020404" pitchFamily="49" charset="0"/>
              </a:rPr>
              <a:t>():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    </a:t>
            </a:r>
            <a:r>
              <a:rPr lang="en-IN" sz="1600" dirty="0" err="1">
                <a:latin typeface="Courier New" panose="02070309020205020404" pitchFamily="49" charset="0"/>
              </a:rPr>
              <a:t>form.save</a:t>
            </a:r>
            <a:r>
              <a:rPr lang="en-IN" sz="1600" dirty="0">
                <a:latin typeface="Courier New" panose="02070309020205020404" pitchFamily="49" charset="0"/>
              </a:rPr>
              <a:t>()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    return redirect('</a:t>
            </a:r>
            <a:r>
              <a:rPr lang="en-IN" sz="1600" dirty="0" err="1">
                <a:latin typeface="Courier New" panose="02070309020205020404" pitchFamily="49" charset="0"/>
              </a:rPr>
              <a:t>post_list</a:t>
            </a:r>
            <a:r>
              <a:rPr lang="en-IN" sz="1600" dirty="0">
                <a:latin typeface="Courier New" panose="02070309020205020404" pitchFamily="49" charset="0"/>
              </a:rPr>
              <a:t>')</a:t>
            </a:r>
          </a:p>
          <a:p>
            <a:r>
              <a:rPr lang="en-IN" sz="1600" dirty="0">
                <a:latin typeface="Courier New" panose="02070309020205020404" pitchFamily="49" charset="0"/>
              </a:rPr>
              <a:t>    return render(request, 'blog/post_form.html', {'form': form})</a:t>
            </a:r>
          </a:p>
          <a:p>
            <a:pPr rtl="0">
              <a:buNone/>
            </a:pPr>
            <a:endParaRPr lang="en-IN" sz="16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554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CA5E9-EBA1-5A1A-95B2-E19F9C687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78B18B1-0EB9-AD66-83F9-5D015CAB9D85}"/>
              </a:ext>
            </a:extLst>
          </p:cNvPr>
          <p:cNvSpPr txBox="1"/>
          <p:nvPr/>
        </p:nvSpPr>
        <p:spPr>
          <a:xfrm>
            <a:off x="533400" y="236359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13: Create Form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blog/forms.py</a:t>
            </a: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from </a:t>
            </a:r>
            <a:r>
              <a:rPr lang="en-IN" dirty="0" err="1">
                <a:latin typeface="Courier New" panose="02070309020205020404" pitchFamily="49" charset="0"/>
              </a:rPr>
              <a:t>django</a:t>
            </a:r>
            <a:r>
              <a:rPr lang="en-IN" dirty="0">
                <a:latin typeface="Courier New" panose="02070309020205020404" pitchFamily="49" charset="0"/>
              </a:rPr>
              <a:t> import forms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from .models import Post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class </a:t>
            </a:r>
            <a:r>
              <a:rPr lang="en-IN" dirty="0" err="1">
                <a:latin typeface="Courier New" panose="02070309020205020404" pitchFamily="49" charset="0"/>
              </a:rPr>
              <a:t>PostForm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forms.ModelForm</a:t>
            </a:r>
            <a:r>
              <a:rPr lang="en-IN" dirty="0">
                <a:latin typeface="Courier New" panose="02070309020205020404" pitchFamily="49" charset="0"/>
              </a:rPr>
              <a:t>):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class Meta: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model = Post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fields = ['title', 'content', 'category']</a:t>
            </a:r>
          </a:p>
        </p:txBody>
      </p:sp>
    </p:spTree>
    <p:extLst>
      <p:ext uri="{BB962C8B-B14F-4D97-AF65-F5344CB8AC3E}">
        <p14:creationId xmlns:p14="http://schemas.microsoft.com/office/powerpoint/2010/main" val="1378086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FEA9A-0865-3AE1-73EE-625E5BD7C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2D8E66-D1D2-644A-30A2-F276124E9902}"/>
              </a:ext>
            </a:extLst>
          </p:cNvPr>
          <p:cNvSpPr txBox="1"/>
          <p:nvPr/>
        </p:nvSpPr>
        <p:spPr>
          <a:xfrm>
            <a:off x="655320" y="8821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Templates (Dynamic UI)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F5F9B-1C04-A969-4AAC-CD306F58F48A}"/>
              </a:ext>
            </a:extLst>
          </p:cNvPr>
          <p:cNvSpPr txBox="1"/>
          <p:nvPr/>
        </p:nvSpPr>
        <p:spPr>
          <a:xfrm>
            <a:off x="47244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14: Create Template Folder Structure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blog/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└── templates/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└── blog/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├── post_list.html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└── post_form.html</a:t>
            </a:r>
          </a:p>
        </p:txBody>
      </p:sp>
    </p:spTree>
    <p:extLst>
      <p:ext uri="{BB962C8B-B14F-4D97-AF65-F5344CB8AC3E}">
        <p14:creationId xmlns:p14="http://schemas.microsoft.com/office/powerpoint/2010/main" val="2425616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2B70C-E835-1C5B-8F50-C3D7E4B1A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4DC9CD-946B-0B25-FEE7-2C6F8ECFA897}"/>
              </a:ext>
            </a:extLst>
          </p:cNvPr>
          <p:cNvSpPr txBox="1"/>
          <p:nvPr/>
        </p:nvSpPr>
        <p:spPr>
          <a:xfrm>
            <a:off x="579120" y="2058978"/>
            <a:ext cx="1205484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15: Post List Template (Pagination)</a:t>
            </a:r>
          </a:p>
          <a:p>
            <a:pPr>
              <a:buNone/>
            </a:pPr>
            <a:r>
              <a:rPr lang="en-IN" sz="1400" dirty="0">
                <a:latin typeface="Courier New" panose="02070309020205020404" pitchFamily="49" charset="0"/>
              </a:rPr>
              <a:t>post_list.html</a:t>
            </a:r>
            <a:endParaRPr lang="en-IN" sz="1400" dirty="0"/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&lt;!DOCTYPE html&gt;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&lt;html&gt;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&lt;head&gt;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&lt;title&gt;Blog Posts&lt;/title&gt;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&lt;/head&gt;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&lt;body&gt;</a:t>
            </a:r>
          </a:p>
          <a:p>
            <a:pPr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&lt;h1&gt;Blog Posts&lt;/h1&gt;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&lt;a </a:t>
            </a:r>
            <a:r>
              <a:rPr lang="en-IN" sz="1400" dirty="0" err="1">
                <a:latin typeface="Courier New" panose="02070309020205020404" pitchFamily="49" charset="0"/>
              </a:rPr>
              <a:t>href</a:t>
            </a:r>
            <a:r>
              <a:rPr lang="en-IN" sz="1400" dirty="0">
                <a:latin typeface="Courier New" panose="02070309020205020404" pitchFamily="49" charset="0"/>
              </a:rPr>
              <a:t>="{% </a:t>
            </a:r>
            <a:r>
              <a:rPr lang="en-IN" sz="1400" dirty="0" err="1">
                <a:latin typeface="Courier New" panose="02070309020205020404" pitchFamily="49" charset="0"/>
              </a:rPr>
              <a:t>url</a:t>
            </a:r>
            <a:r>
              <a:rPr lang="en-IN" sz="1400" dirty="0">
                <a:latin typeface="Courier New" panose="02070309020205020404" pitchFamily="49" charset="0"/>
              </a:rPr>
              <a:t> '</a:t>
            </a:r>
            <a:r>
              <a:rPr lang="en-IN" sz="1400" dirty="0" err="1">
                <a:latin typeface="Courier New" panose="02070309020205020404" pitchFamily="49" charset="0"/>
              </a:rPr>
              <a:t>post_create</a:t>
            </a:r>
            <a:r>
              <a:rPr lang="en-IN" sz="1400" dirty="0">
                <a:latin typeface="Courier New" panose="02070309020205020404" pitchFamily="49" charset="0"/>
              </a:rPr>
              <a:t>' %}"&gt;Create New Post&lt;/a&gt;</a:t>
            </a:r>
          </a:p>
          <a:p>
            <a:pPr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&lt;hr&gt;</a:t>
            </a:r>
          </a:p>
          <a:p>
            <a:pPr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{% for post in </a:t>
            </a:r>
            <a:r>
              <a:rPr lang="en-IN" sz="1400" dirty="0" err="1">
                <a:latin typeface="Courier New" panose="02070309020205020404" pitchFamily="49" charset="0"/>
              </a:rPr>
              <a:t>page_obj</a:t>
            </a:r>
            <a:r>
              <a:rPr lang="en-IN" sz="1400" dirty="0">
                <a:latin typeface="Courier New" panose="02070309020205020404" pitchFamily="49" charset="0"/>
              </a:rPr>
              <a:t> %}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&lt;h3&gt;{{ </a:t>
            </a:r>
            <a:r>
              <a:rPr lang="en-IN" sz="1400" dirty="0" err="1">
                <a:latin typeface="Courier New" panose="02070309020205020404" pitchFamily="49" charset="0"/>
              </a:rPr>
              <a:t>post.title</a:t>
            </a:r>
            <a:r>
              <a:rPr lang="en-IN" sz="1400" dirty="0">
                <a:latin typeface="Courier New" panose="02070309020205020404" pitchFamily="49" charset="0"/>
              </a:rPr>
              <a:t> }}&lt;/h3&gt;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&lt;p&gt;{{ post.content|truncatewords:20 }}&lt;/p&gt;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&lt;small&gt;Category: {{ post.category.name }}&lt;/small&gt;&lt;</a:t>
            </a:r>
            <a:r>
              <a:rPr lang="en-IN" sz="1400" dirty="0" err="1">
                <a:latin typeface="Courier New" panose="02070309020205020404" pitchFamily="49" charset="0"/>
              </a:rPr>
              <a:t>br</a:t>
            </a:r>
            <a:r>
              <a:rPr lang="en-IN" sz="1400" dirty="0">
                <a:latin typeface="Courier New" panose="02070309020205020404" pitchFamily="49" charset="0"/>
              </a:rPr>
              <a:t>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&lt;a </a:t>
            </a:r>
            <a:r>
              <a:rPr lang="en-IN" sz="1400" dirty="0" err="1">
                <a:latin typeface="Courier New" panose="02070309020205020404" pitchFamily="49" charset="0"/>
              </a:rPr>
              <a:t>href</a:t>
            </a:r>
            <a:r>
              <a:rPr lang="en-IN" sz="1400" dirty="0">
                <a:latin typeface="Courier New" panose="02070309020205020404" pitchFamily="49" charset="0"/>
              </a:rPr>
              <a:t>="{% </a:t>
            </a:r>
            <a:r>
              <a:rPr lang="en-IN" sz="1400" dirty="0" err="1">
                <a:latin typeface="Courier New" panose="02070309020205020404" pitchFamily="49" charset="0"/>
              </a:rPr>
              <a:t>url</a:t>
            </a:r>
            <a:r>
              <a:rPr lang="en-IN" sz="1400" dirty="0">
                <a:latin typeface="Courier New" panose="02070309020205020404" pitchFamily="49" charset="0"/>
              </a:rPr>
              <a:t> '</a:t>
            </a:r>
            <a:r>
              <a:rPr lang="en-IN" sz="1400" dirty="0" err="1">
                <a:latin typeface="Courier New" panose="02070309020205020404" pitchFamily="49" charset="0"/>
              </a:rPr>
              <a:t>post_edit</a:t>
            </a:r>
            <a:r>
              <a:rPr lang="en-IN" sz="1400" dirty="0">
                <a:latin typeface="Courier New" panose="02070309020205020404" pitchFamily="49" charset="0"/>
              </a:rPr>
              <a:t>' post.id %}"&gt;Edit&lt;/a&gt;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&lt;hr&gt;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{% </a:t>
            </a:r>
            <a:r>
              <a:rPr lang="en-IN" sz="1400" dirty="0" err="1">
                <a:latin typeface="Courier New" panose="02070309020205020404" pitchFamily="49" charset="0"/>
              </a:rPr>
              <a:t>endfor</a:t>
            </a:r>
            <a:r>
              <a:rPr lang="en-IN" sz="1400" dirty="0">
                <a:latin typeface="Courier New" panose="02070309020205020404" pitchFamily="49" charset="0"/>
              </a:rPr>
              <a:t> %}</a:t>
            </a:r>
          </a:p>
          <a:p>
            <a:pPr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sz="14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4588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D6042-8E12-2D7F-80C5-D6CF4A334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1DD5E3-98BB-60D8-92FB-B98E1D4F55B1}"/>
              </a:ext>
            </a:extLst>
          </p:cNvPr>
          <p:cNvSpPr txBox="1"/>
          <p:nvPr/>
        </p:nvSpPr>
        <p:spPr>
          <a:xfrm>
            <a:off x="579120" y="2058978"/>
            <a:ext cx="1205484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15: Post List Template (Pagination)</a:t>
            </a:r>
          </a:p>
          <a:p>
            <a:pPr>
              <a:buNone/>
            </a:pPr>
            <a:r>
              <a:rPr lang="en-IN" sz="1400" dirty="0">
                <a:latin typeface="Courier New" panose="02070309020205020404" pitchFamily="49" charset="0"/>
              </a:rPr>
              <a:t>post_list.html</a:t>
            </a:r>
            <a:endParaRPr lang="en-IN" sz="1400" dirty="0"/>
          </a:p>
          <a:p>
            <a:pPr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&lt;div&gt;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{% if </a:t>
            </a:r>
            <a:r>
              <a:rPr lang="en-IN" sz="1400" dirty="0" err="1">
                <a:latin typeface="Courier New" panose="02070309020205020404" pitchFamily="49" charset="0"/>
              </a:rPr>
              <a:t>page_obj.has_previous</a:t>
            </a:r>
            <a:r>
              <a:rPr lang="en-IN" sz="1400" dirty="0">
                <a:latin typeface="Courier New" panose="02070309020205020404" pitchFamily="49" charset="0"/>
              </a:rPr>
              <a:t> %}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    &lt;a </a:t>
            </a:r>
            <a:r>
              <a:rPr lang="en-IN" sz="1400" dirty="0" err="1">
                <a:latin typeface="Courier New" panose="02070309020205020404" pitchFamily="49" charset="0"/>
              </a:rPr>
              <a:t>href</a:t>
            </a:r>
            <a:r>
              <a:rPr lang="en-IN" sz="1400" dirty="0">
                <a:latin typeface="Courier New" panose="02070309020205020404" pitchFamily="49" charset="0"/>
              </a:rPr>
              <a:t>="?page={{ </a:t>
            </a:r>
            <a:r>
              <a:rPr lang="en-IN" sz="1400" dirty="0" err="1">
                <a:latin typeface="Courier New" panose="02070309020205020404" pitchFamily="49" charset="0"/>
              </a:rPr>
              <a:t>page_obj.previous_page_number</a:t>
            </a:r>
            <a:r>
              <a:rPr lang="en-IN" sz="1400" dirty="0">
                <a:latin typeface="Courier New" panose="02070309020205020404" pitchFamily="49" charset="0"/>
              </a:rPr>
              <a:t> }}"&gt;Previous&lt;/a&gt;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{% endif %}</a:t>
            </a:r>
          </a:p>
          <a:p>
            <a:pPr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Page {{ </a:t>
            </a:r>
            <a:r>
              <a:rPr lang="en-IN" sz="1400" dirty="0" err="1">
                <a:latin typeface="Courier New" panose="02070309020205020404" pitchFamily="49" charset="0"/>
              </a:rPr>
              <a:t>page_obj.number</a:t>
            </a:r>
            <a:r>
              <a:rPr lang="en-IN" sz="1400" dirty="0">
                <a:latin typeface="Courier New" panose="02070309020205020404" pitchFamily="49" charset="0"/>
              </a:rPr>
              <a:t> }} of {{ </a:t>
            </a:r>
            <a:r>
              <a:rPr lang="en-IN" sz="1400" dirty="0" err="1">
                <a:latin typeface="Courier New" panose="02070309020205020404" pitchFamily="49" charset="0"/>
              </a:rPr>
              <a:t>page_obj.paginator.num_pages</a:t>
            </a:r>
            <a:r>
              <a:rPr lang="en-IN" sz="1400" dirty="0">
                <a:latin typeface="Courier New" panose="02070309020205020404" pitchFamily="49" charset="0"/>
              </a:rPr>
              <a:t> }}</a:t>
            </a:r>
          </a:p>
          <a:p>
            <a:pPr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{% if </a:t>
            </a:r>
            <a:r>
              <a:rPr lang="en-IN" sz="1400" dirty="0" err="1">
                <a:latin typeface="Courier New" panose="02070309020205020404" pitchFamily="49" charset="0"/>
              </a:rPr>
              <a:t>page_obj.has_next</a:t>
            </a:r>
            <a:r>
              <a:rPr lang="en-IN" sz="1400" dirty="0">
                <a:latin typeface="Courier New" panose="02070309020205020404" pitchFamily="49" charset="0"/>
              </a:rPr>
              <a:t> %}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    &lt;a </a:t>
            </a:r>
            <a:r>
              <a:rPr lang="en-IN" sz="1400" dirty="0" err="1">
                <a:latin typeface="Courier New" panose="02070309020205020404" pitchFamily="49" charset="0"/>
              </a:rPr>
              <a:t>href</a:t>
            </a:r>
            <a:r>
              <a:rPr lang="en-IN" sz="1400" dirty="0">
                <a:latin typeface="Courier New" panose="02070309020205020404" pitchFamily="49" charset="0"/>
              </a:rPr>
              <a:t>="?page={{ </a:t>
            </a:r>
            <a:r>
              <a:rPr lang="en-IN" sz="1400" dirty="0" err="1">
                <a:latin typeface="Courier New" panose="02070309020205020404" pitchFamily="49" charset="0"/>
              </a:rPr>
              <a:t>page_obj.next_page_number</a:t>
            </a:r>
            <a:r>
              <a:rPr lang="en-IN" sz="1400" dirty="0">
                <a:latin typeface="Courier New" panose="02070309020205020404" pitchFamily="49" charset="0"/>
              </a:rPr>
              <a:t> }}"&gt;Next&lt;/a&gt;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{% endif %}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&lt;/div&gt;</a:t>
            </a:r>
          </a:p>
          <a:p>
            <a:pPr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&lt;/body&gt;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298745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6F73-6271-6F19-BECA-723A790F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3545BB-771F-4884-1463-33BF3B207ACA}"/>
              </a:ext>
            </a:extLst>
          </p:cNvPr>
          <p:cNvSpPr txBox="1"/>
          <p:nvPr/>
        </p:nvSpPr>
        <p:spPr>
          <a:xfrm>
            <a:off x="609600" y="2042726"/>
            <a:ext cx="609600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16: Post Create/Edit Form Template</a:t>
            </a:r>
          </a:p>
          <a:p>
            <a:pPr>
              <a:buNone/>
            </a:pPr>
            <a:r>
              <a:rPr lang="en-IN" sz="1400" dirty="0">
                <a:latin typeface="Courier New" panose="02070309020205020404" pitchFamily="49" charset="0"/>
              </a:rPr>
              <a:t>post_form.html</a:t>
            </a:r>
            <a:endParaRPr lang="en-IN" sz="1400" dirty="0"/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&lt;!DOCTYPE html&gt;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&lt;html&gt;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&lt;head&gt;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&lt;title&gt;Post Form&lt;/title&gt;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&lt;/head&gt;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&lt;body&gt;</a:t>
            </a:r>
          </a:p>
          <a:p>
            <a:pPr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&lt;h1&gt;Post Form&lt;/h1&gt;</a:t>
            </a:r>
          </a:p>
          <a:p>
            <a:pPr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&lt;form method="POST"&gt;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{% </a:t>
            </a:r>
            <a:r>
              <a:rPr lang="en-IN" sz="1400" dirty="0" err="1">
                <a:latin typeface="Courier New" panose="02070309020205020404" pitchFamily="49" charset="0"/>
              </a:rPr>
              <a:t>csrf_token</a:t>
            </a:r>
            <a:r>
              <a:rPr lang="en-IN" sz="1400" dirty="0">
                <a:latin typeface="Courier New" panose="02070309020205020404" pitchFamily="49" charset="0"/>
              </a:rPr>
              <a:t> %}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{{ </a:t>
            </a:r>
            <a:r>
              <a:rPr lang="en-IN" sz="1400" dirty="0" err="1">
                <a:latin typeface="Courier New" panose="02070309020205020404" pitchFamily="49" charset="0"/>
              </a:rPr>
              <a:t>form.as_p</a:t>
            </a:r>
            <a:r>
              <a:rPr lang="en-IN" sz="1400" dirty="0">
                <a:latin typeface="Courier New" panose="02070309020205020404" pitchFamily="49" charset="0"/>
              </a:rPr>
              <a:t> }}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    &lt;button type="submit"&gt;Save&lt;/button&gt;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&lt;/form&gt;</a:t>
            </a:r>
          </a:p>
          <a:p>
            <a:pPr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&lt;a </a:t>
            </a:r>
            <a:r>
              <a:rPr lang="en-IN" sz="1400" dirty="0" err="1">
                <a:latin typeface="Courier New" panose="02070309020205020404" pitchFamily="49" charset="0"/>
              </a:rPr>
              <a:t>href</a:t>
            </a:r>
            <a:r>
              <a:rPr lang="en-IN" sz="1400" dirty="0">
                <a:latin typeface="Courier New" panose="02070309020205020404" pitchFamily="49" charset="0"/>
              </a:rPr>
              <a:t>="{% </a:t>
            </a:r>
            <a:r>
              <a:rPr lang="en-IN" sz="1400" dirty="0" err="1">
                <a:latin typeface="Courier New" panose="02070309020205020404" pitchFamily="49" charset="0"/>
              </a:rPr>
              <a:t>url</a:t>
            </a:r>
            <a:r>
              <a:rPr lang="en-IN" sz="1400" dirty="0">
                <a:latin typeface="Courier New" panose="02070309020205020404" pitchFamily="49" charset="0"/>
              </a:rPr>
              <a:t> '</a:t>
            </a:r>
            <a:r>
              <a:rPr lang="en-IN" sz="1400" dirty="0" err="1">
                <a:latin typeface="Courier New" panose="02070309020205020404" pitchFamily="49" charset="0"/>
              </a:rPr>
              <a:t>post_list</a:t>
            </a:r>
            <a:r>
              <a:rPr lang="en-IN" sz="1400" dirty="0">
                <a:latin typeface="Courier New" panose="02070309020205020404" pitchFamily="49" charset="0"/>
              </a:rPr>
              <a:t>' %}"&gt;Back to Posts&lt;/a&gt;</a:t>
            </a:r>
          </a:p>
          <a:p>
            <a:pPr rtl="0">
              <a:buNone/>
            </a:pPr>
            <a:endParaRPr lang="en-IN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&lt;/body&gt;</a:t>
            </a:r>
          </a:p>
          <a:p>
            <a:pPr rtl="0">
              <a:buNone/>
            </a:pPr>
            <a:r>
              <a:rPr lang="en-IN" sz="1400" dirty="0">
                <a:latin typeface="Courier New" panose="0207030902020502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6675689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7365-AB33-CD5E-7589-E34042C0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70C043-5C04-199A-F704-7FC6E0FFD29C}"/>
              </a:ext>
            </a:extLst>
          </p:cNvPr>
          <p:cNvSpPr txBox="1"/>
          <p:nvPr/>
        </p:nvSpPr>
        <p:spPr>
          <a:xfrm>
            <a:off x="640080" y="83641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bg1"/>
                </a:solidFill>
              </a:rPr>
              <a:t>Run the Project 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E28AB-878D-18F9-894F-CCB41BF8A3B0}"/>
              </a:ext>
            </a:extLst>
          </p:cNvPr>
          <p:cNvSpPr txBox="1"/>
          <p:nvPr/>
        </p:nvSpPr>
        <p:spPr>
          <a:xfrm>
            <a:off x="518160" y="24200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17: Start Server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python manage.py </a:t>
            </a:r>
            <a:r>
              <a:rPr lang="en-US" dirty="0" err="1">
                <a:latin typeface="Courier New" panose="02070309020205020404" pitchFamily="49" charset="0"/>
              </a:rPr>
              <a:t>runserver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D5AA35-707F-3A48-A495-EB38BEEAB359}"/>
              </a:ext>
            </a:extLst>
          </p:cNvPr>
          <p:cNvSpPr txBox="1"/>
          <p:nvPr/>
        </p:nvSpPr>
        <p:spPr>
          <a:xfrm>
            <a:off x="518160" y="36087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18: Open Browser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http://127.0.0.1:8000/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B98F14-0798-B435-362D-4043DD66330E}"/>
              </a:ext>
            </a:extLst>
          </p:cNvPr>
          <p:cNvSpPr txBox="1"/>
          <p:nvPr/>
        </p:nvSpPr>
        <p:spPr>
          <a:xfrm>
            <a:off x="640080" y="47853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19: Admin Panel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http://127.0.0.1:8000/admin/</a:t>
            </a:r>
          </a:p>
        </p:txBody>
      </p:sp>
    </p:spTree>
    <p:extLst>
      <p:ext uri="{BB962C8B-B14F-4D97-AF65-F5344CB8AC3E}">
        <p14:creationId xmlns:p14="http://schemas.microsoft.com/office/powerpoint/2010/main" val="332491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106</TotalTime>
  <Words>1865</Words>
  <Application>Microsoft Office PowerPoint</Application>
  <PresentationFormat>Widescreen</PresentationFormat>
  <Paragraphs>383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Courier New</vt:lpstr>
      <vt:lpstr>Gill Sans MT</vt:lpstr>
      <vt:lpstr>Wingdings 2</vt:lpstr>
      <vt:lpstr>Custom</vt:lpstr>
      <vt:lpstr>Django –Module 3</vt:lpstr>
      <vt:lpstr>User Authentication System – Introduction</vt:lpstr>
      <vt:lpstr>Django User Authentication System</vt:lpstr>
      <vt:lpstr>User Registration</vt:lpstr>
      <vt:lpstr>Login System </vt:lpstr>
      <vt:lpstr>Logout System (Theory)</vt:lpstr>
      <vt:lpstr>Django Admin Interface – Introduction</vt:lpstr>
      <vt:lpstr>Why Django Admin is Important?</vt:lpstr>
      <vt:lpstr>Django Admin in Blog Project</vt:lpstr>
      <vt:lpstr>Django Forms – Introduction</vt:lpstr>
      <vt:lpstr>Django Forms – Introduction What are Django Forms? </vt:lpstr>
      <vt:lpstr>Django Form Class</vt:lpstr>
      <vt:lpstr>Django ModelForm </vt:lpstr>
      <vt:lpstr>ModelForm in Blog Project</vt:lpstr>
      <vt:lpstr>Form Validation in Django</vt:lpstr>
      <vt:lpstr>CSRF Protection</vt:lpstr>
      <vt:lpstr>Authentication + Forms + Admin (Project Flow)</vt:lpstr>
      <vt:lpstr>Summary</vt:lpstr>
      <vt:lpstr>Hands 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GUNJAN MISHRA</dc:creator>
  <cp:lastModifiedBy>GUNJAN MISHRA</cp:lastModifiedBy>
  <cp:revision>2</cp:revision>
  <dcterms:created xsi:type="dcterms:W3CDTF">2025-12-26T02:42:10Z</dcterms:created>
  <dcterms:modified xsi:type="dcterms:W3CDTF">2025-12-26T15:31:58Z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